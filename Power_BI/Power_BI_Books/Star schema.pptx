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6" r:id="rId2"/>
    <p:sldId id="258" r:id="rId3"/>
    <p:sldId id="259" r:id="rId4"/>
    <p:sldId id="257" r:id="rId5"/>
    <p:sldId id="263" r:id="rId6"/>
    <p:sldId id="262" r:id="rId7"/>
    <p:sldId id="264"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48" autoAdjust="0"/>
    <p:restoredTop sz="94624" autoAdjust="0"/>
  </p:normalViewPr>
  <p:slideViewPr>
    <p:cSldViewPr>
      <p:cViewPr varScale="1">
        <p:scale>
          <a:sx n="73" d="100"/>
          <a:sy n="73" d="100"/>
        </p:scale>
        <p:origin x="-129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4FE786-4B22-4CC4-9687-688EBB47E917}" type="datetimeFigureOut">
              <a:rPr lang="en-US" smtClean="0"/>
              <a:pPr/>
              <a:t>11/24/2022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CFA7A2-EF64-4256-9C35-66B87C3B962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baseline="0" dirty="0" smtClean="0"/>
              <a:t> </a:t>
            </a:r>
            <a:endParaRPr lang="en-IN" dirty="0" smtClean="0"/>
          </a:p>
        </p:txBody>
      </p:sp>
      <p:sp>
        <p:nvSpPr>
          <p:cNvPr id="4" name="Slide Number Placeholder 3"/>
          <p:cNvSpPr>
            <a:spLocks noGrp="1"/>
          </p:cNvSpPr>
          <p:nvPr>
            <p:ph type="sldNum" sz="quarter" idx="10"/>
          </p:nvPr>
        </p:nvSpPr>
        <p:spPr/>
        <p:txBody>
          <a:bodyPr/>
          <a:lstStyle/>
          <a:p>
            <a:fld id="{C1CFA7A2-EF64-4256-9C35-66B87C3B962F}"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16" name="Slide Number Placeholder 15"/>
          <p:cNvSpPr>
            <a:spLocks noGrp="1"/>
          </p:cNvSpPr>
          <p:nvPr>
            <p:ph type="sldNum" sz="quarter" idx="11"/>
          </p:nvPr>
        </p:nvSpPr>
        <p:spPr/>
        <p:txBody>
          <a:bodyPr/>
          <a:lstStyle/>
          <a:p>
            <a:fld id="{FBE64809-D2BF-4320-808C-201F726315FA}" type="slidenum">
              <a:rPr lang="en-US" smtClean="0"/>
              <a:pPr/>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transition spd="slow">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9EDC1F40-D4C3-43DA-A38D-90FE6D0478F7}" type="datetimeFigureOut">
              <a:rPr lang="en-US" smtClean="0"/>
              <a:pPr/>
              <a:t>11/24/2022</a:t>
            </a:fld>
            <a:endParaRPr lang="en-US"/>
          </a:p>
        </p:txBody>
      </p:sp>
      <p:sp>
        <p:nvSpPr>
          <p:cNvPr id="15" name="Slide Number Placeholder 14"/>
          <p:cNvSpPr>
            <a:spLocks noGrp="1"/>
          </p:cNvSpPr>
          <p:nvPr>
            <p:ph type="sldNum" sz="quarter" idx="15"/>
          </p:nvPr>
        </p:nvSpPr>
        <p:spPr/>
        <p:txBody>
          <a:bodyPr/>
          <a:lstStyle>
            <a:lvl1pPr algn="ctr">
              <a:defRPr/>
            </a:lvl1pPr>
          </a:lstStyle>
          <a:p>
            <a:fld id="{FBE64809-D2BF-4320-808C-201F726315FA}" type="slidenum">
              <a:rPr lang="en-US" smtClean="0"/>
              <a:pPr/>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transition spd="slow">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64809-D2BF-4320-808C-201F726315FA}" type="slidenum">
              <a:rPr lang="en-US" smtClean="0"/>
              <a:pPr/>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zo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64809-D2BF-4320-808C-201F726315FA}"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spd="slow">
    <p:zo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FBE64809-D2BF-4320-808C-201F726315FA}" type="slidenum">
              <a:rPr lang="en-US" smtClean="0"/>
              <a:pPr/>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zo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E64809-D2BF-4320-808C-201F726315FA}" type="slidenum">
              <a:rPr lang="en-US" smtClean="0"/>
              <a:pPr/>
              <a:t>‹#›</a:t>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transition spd="slow">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E64809-D2BF-4320-808C-201F726315FA}" type="slidenum">
              <a:rPr lang="en-US" smtClean="0"/>
              <a:pPr/>
              <a:t>‹#›</a:t>
            </a:fld>
            <a:endParaRPr lang="en-US"/>
          </a:p>
        </p:txBody>
      </p:sp>
    </p:spTree>
  </p:cSld>
  <p:clrMapOvr>
    <a:masterClrMapping/>
  </p:clrMapOvr>
  <p:transition spd="slow">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9EDC1F40-D4C3-43DA-A38D-90FE6D0478F7}" type="datetimeFigureOut">
              <a:rPr lang="en-US" smtClean="0"/>
              <a:pPr/>
              <a:t>11/24/2022</a:t>
            </a:fld>
            <a:endParaRPr lang="en-US"/>
          </a:p>
        </p:txBody>
      </p:sp>
      <p:sp>
        <p:nvSpPr>
          <p:cNvPr id="9" name="Slide Number Placeholder 8"/>
          <p:cNvSpPr>
            <a:spLocks noGrp="1"/>
          </p:cNvSpPr>
          <p:nvPr>
            <p:ph type="sldNum" sz="quarter" idx="15"/>
          </p:nvPr>
        </p:nvSpPr>
        <p:spPr/>
        <p:txBody>
          <a:bodyPr/>
          <a:lstStyle/>
          <a:p>
            <a:fld id="{FBE64809-D2BF-4320-808C-201F726315FA}" type="slidenum">
              <a:rPr lang="en-US" smtClean="0"/>
              <a:pPr/>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transition spd="slow">
    <p:zo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9" name="Slide Number Placeholder 8"/>
          <p:cNvSpPr>
            <a:spLocks noGrp="1"/>
          </p:cNvSpPr>
          <p:nvPr>
            <p:ph type="sldNum" sz="quarter" idx="11"/>
          </p:nvPr>
        </p:nvSpPr>
        <p:spPr/>
        <p:txBody>
          <a:bodyPr/>
          <a:lstStyle/>
          <a:p>
            <a:fld id="{FBE64809-D2BF-4320-808C-201F726315FA}"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transition spd="slow">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64809-D2BF-4320-808C-201F726315FA}" type="slidenum">
              <a:rPr lang="en-US" smtClean="0"/>
              <a:pPr/>
              <a:t>‹#›</a:t>
            </a:fld>
            <a:endParaRPr lang="en-US"/>
          </a:p>
        </p:txBody>
      </p:sp>
    </p:spTree>
  </p:cSld>
  <p:clrMapOvr>
    <a:masterClrMapping/>
  </p:clrMapOvr>
  <p:transition spd="slow">
    <p:zo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EDC1F40-D4C3-43DA-A38D-90FE6D0478F7}"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64809-D2BF-4320-808C-201F726315FA}" type="slidenum">
              <a:rPr lang="en-US" smtClean="0"/>
              <a:pPr/>
              <a:t>‹#›</a:t>
            </a:fld>
            <a:endParaRPr lang="en-US"/>
          </a:p>
        </p:txBody>
      </p:sp>
    </p:spTree>
  </p:cSld>
  <p:clrMapOvr>
    <a:masterClrMapping/>
  </p:clrMapOvr>
  <p:transition spd="slow">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9EDC1F40-D4C3-43DA-A38D-90FE6D0478F7}" type="datetimeFigureOut">
              <a:rPr lang="en-US" smtClean="0"/>
              <a:pPr/>
              <a:t>11/24/2022</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FBE64809-D2BF-4320-808C-201F726315FA}" type="slidenum">
              <a:rPr lang="en-US" smtClean="0"/>
              <a:pPr/>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zoom/>
  </p:transition>
  <p:timing>
    <p:tnLst>
      <p:par>
        <p:cTn id="1" dur="indefinite" restart="never" nodeType="tmRoot"/>
      </p:par>
    </p:tnLst>
  </p:timing>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28794" y="2000240"/>
            <a:ext cx="5739921" cy="3046988"/>
          </a:xfrm>
          <a:prstGeom prst="rect">
            <a:avLst/>
          </a:prstGeom>
          <a:noFill/>
        </p:spPr>
        <p:txBody>
          <a:bodyPr wrap="square" lIns="91440" tIns="45720" rIns="91440" bIns="45720">
            <a:spAutoFit/>
          </a:bodyPr>
          <a:lstStyle/>
          <a:p>
            <a:pPr algn="ctr"/>
            <a:r>
              <a:rPr lang="en-US" sz="9600" dirty="0" smtClean="0">
                <a:ln w="10160">
                  <a:solidFill>
                    <a:schemeClr val="accent1"/>
                  </a:solidFill>
                  <a:prstDash val="solid"/>
                </a:ln>
                <a:solidFill>
                  <a:srgbClr val="FFFFFF"/>
                </a:solidFill>
                <a:effectLst>
                  <a:outerShdw blurRad="38100" dist="32000" dir="5400000" algn="tl">
                    <a:srgbClr val="000000">
                      <a:alpha val="30000"/>
                    </a:srgbClr>
                  </a:outerShdw>
                </a:effectLst>
              </a:rPr>
              <a:t>STAR SCHEMA</a:t>
            </a:r>
            <a:endParaRPr lang="en-US" sz="960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6"/>
                                        </p:tgtEl>
                                        <p:attrNameLst>
                                          <p:attrName>style.visibility</p:attrName>
                                        </p:attrNameLst>
                                      </p:cBhvr>
                                      <p:to>
                                        <p:strVal val="visible"/>
                                      </p:to>
                                    </p:set>
                                    <p:set>
                                      <p:cBhvr>
                                        <p:cTn id="7" dur="228" fill="hold">
                                          <p:stCondLst>
                                            <p:cond delay="0"/>
                                          </p:stCondLst>
                                        </p:cTn>
                                        <p:tgtEl>
                                          <p:spTgt spid="6"/>
                                        </p:tgtEl>
                                        <p:attrNameLst>
                                          <p:attrName>style.rotation</p:attrName>
                                        </p:attrNameLst>
                                      </p:cBhvr>
                                      <p:to>
                                        <p:strVal val="-45.0"/>
                                      </p:to>
                                    </p:set>
                                    <p:anim calcmode="lin" valueType="num">
                                      <p:cBhvr>
                                        <p:cTn id="8" dur="228" fill="hold">
                                          <p:stCondLst>
                                            <p:cond delay="228"/>
                                          </p:stCondLst>
                                        </p:cTn>
                                        <p:tgtEl>
                                          <p:spTgt spid="6"/>
                                        </p:tgtEl>
                                        <p:attrNameLst>
                                          <p:attrName>style.rotation</p:attrName>
                                        </p:attrNameLst>
                                      </p:cBhvr>
                                      <p:tavLst>
                                        <p:tav tm="0">
                                          <p:val>
                                            <p:fltVal val="-45"/>
                                          </p:val>
                                        </p:tav>
                                        <p:tav tm="69900">
                                          <p:val>
                                            <p:fltVal val="45"/>
                                          </p:val>
                                        </p:tav>
                                        <p:tav tm="100000">
                                          <p:val>
                                            <p:fltVal val="0"/>
                                          </p:val>
                                        </p:tav>
                                      </p:tavLst>
                                    </p:anim>
                                    <p:anim calcmode="lin" valueType="num">
                                      <p:cBhvr>
                                        <p:cTn id="9" dur="228" fill="hold">
                                          <p:stCondLst>
                                            <p:cond delay="0"/>
                                          </p:stCondLst>
                                        </p:cTn>
                                        <p:tgtEl>
                                          <p:spTgt spid="6"/>
                                        </p:tgtEl>
                                        <p:attrNameLst>
                                          <p:attrName>ppt_y</p:attrName>
                                        </p:attrNameLst>
                                      </p:cBhvr>
                                      <p:tavLst>
                                        <p:tav tm="0">
                                          <p:val>
                                            <p:strVal val="#ppt_y-1"/>
                                          </p:val>
                                        </p:tav>
                                        <p:tav tm="100000">
                                          <p:val>
                                            <p:strVal val="#ppt_y-(0.354*#ppt_w-0.172*#ppt_h)"/>
                                          </p:val>
                                        </p:tav>
                                      </p:tavLst>
                                    </p:anim>
                                    <p:anim calcmode="lin" valueType="num">
                                      <p:cBhvr>
                                        <p:cTn id="10" dur="78" decel="50000" autoRev="1" fill="hold">
                                          <p:stCondLst>
                                            <p:cond delay="228"/>
                                          </p:stCondLst>
                                        </p:cTn>
                                        <p:tgtEl>
                                          <p:spTgt spid="6"/>
                                        </p:tgtEl>
                                        <p:attrNameLst>
                                          <p:attrName>ppt_y</p:attrName>
                                        </p:attrNameLst>
                                      </p:cBhvr>
                                      <p:tavLst>
                                        <p:tav tm="0">
                                          <p:val>
                                            <p:strVal val="#ppt_y-(0.354*#ppt_w-0.172*#ppt_h)"/>
                                          </p:val>
                                        </p:tav>
                                        <p:tav tm="100000">
                                          <p:val>
                                            <p:strVal val="#ppt_y-(0.354*#ppt_w-0.172*#ppt_h)-#ppt_h/2"/>
                                          </p:val>
                                        </p:tav>
                                      </p:tavLst>
                                    </p:anim>
                                    <p:anim calcmode="lin" valueType="num">
                                      <p:cBhvr>
                                        <p:cTn id="11" dur="68" fill="hold">
                                          <p:stCondLst>
                                            <p:cond delay="432"/>
                                          </p:stCondLst>
                                        </p:cTn>
                                        <p:tgtEl>
                                          <p:spTgt spid="6"/>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4282" y="571480"/>
            <a:ext cx="7858180" cy="923330"/>
          </a:xfrm>
          <a:prstGeom prst="rect">
            <a:avLst/>
          </a:prstGeom>
          <a:noFill/>
        </p:spPr>
        <p:txBody>
          <a:bodyPr wrap="square" lIns="91440" tIns="45720" rIns="91440" bIns="45720">
            <a:spAutoFit/>
          </a:bodyPr>
          <a:lstStyle/>
          <a:p>
            <a:pPr algn="ctr"/>
            <a:r>
              <a:rPr lang="en-US" sz="5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What is star schema ?</a:t>
            </a:r>
            <a:endParaRPr lang="en-US" sz="54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
        <p:nvSpPr>
          <p:cNvPr id="6" name="TextBox 5"/>
          <p:cNvSpPr txBox="1"/>
          <p:nvPr/>
        </p:nvSpPr>
        <p:spPr>
          <a:xfrm>
            <a:off x="785786" y="1571612"/>
            <a:ext cx="7286676" cy="3108543"/>
          </a:xfrm>
          <a:prstGeom prst="rect">
            <a:avLst/>
          </a:prstGeom>
          <a:noFill/>
        </p:spPr>
        <p:txBody>
          <a:bodyPr wrap="square" rtlCol="0">
            <a:spAutoFit/>
          </a:bodyPr>
          <a:lstStyle/>
          <a:p>
            <a:r>
              <a:rPr lang="en-US" sz="2800" dirty="0" smtClean="0"/>
              <a:t>Star schema is a Technique which is used in data warehouses or  business intelligence </a:t>
            </a:r>
            <a:r>
              <a:rPr lang="en-US" sz="2800" dirty="0" smtClean="0"/>
              <a:t>.      It </a:t>
            </a:r>
            <a:r>
              <a:rPr lang="en-US" sz="2800" dirty="0" smtClean="0"/>
              <a:t>is </a:t>
            </a:r>
            <a:r>
              <a:rPr lang="en-US" sz="2800" b="1" dirty="0" smtClean="0"/>
              <a:t>a </a:t>
            </a:r>
            <a:r>
              <a:rPr lang="en-US" sz="2800" dirty="0" smtClean="0"/>
              <a:t>database  that uses a single large fact table to store  measured  data, and one or more smaller dimensional  tables that store attributes about the data and that are connect to the fact table. It is called a star schema  </a:t>
            </a:r>
            <a:endParaRPr lang="en-US" sz="2800" dirty="0"/>
          </a:p>
        </p:txBody>
      </p:sp>
    </p:spTree>
  </p:cSld>
  <p:clrMapOvr>
    <a:masterClrMapping/>
  </p:clrMapOvr>
  <p:transition spd="slow">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6"/>
                                        </p:tgtEl>
                                        <p:attrNameLst>
                                          <p:attrName>style.visibility</p:attrName>
                                        </p:attrNameLst>
                                      </p:cBhvr>
                                      <p:to>
                                        <p:strVal val="visible"/>
                                      </p:to>
                                    </p:set>
                                    <p:anim calcmode="discrete" valueType="clr">
                                      <p:cBhvr override="childStyle">
                                        <p:cTn id="16"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6"/>
                                        </p:tgtEl>
                                        <p:attrNameLst>
                                          <p:attrName>fillcolor</p:attrName>
                                        </p:attrNameLst>
                                      </p:cBhvr>
                                      <p:tavLst>
                                        <p:tav tm="0">
                                          <p:val>
                                            <p:clrVal>
                                              <a:schemeClr val="accent2"/>
                                            </p:clrVal>
                                          </p:val>
                                        </p:tav>
                                        <p:tav tm="50000">
                                          <p:val>
                                            <p:clrVal>
                                              <a:schemeClr val="hlink"/>
                                            </p:clrVal>
                                          </p:val>
                                        </p:tav>
                                      </p:tavLst>
                                    </p:anim>
                                    <p:set>
                                      <p:cBhvr>
                                        <p:cTn id="18" dur="80"/>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00232" y="571480"/>
            <a:ext cx="5180905" cy="769441"/>
          </a:xfrm>
          <a:prstGeom prst="rect">
            <a:avLst/>
          </a:prstGeom>
          <a:noFill/>
        </p:spPr>
        <p:txBody>
          <a:bodyPr wrap="none" lIns="91440" tIns="45720" rIns="91440" bIns="45720">
            <a:spAutoFit/>
          </a:bodyPr>
          <a:lstStyle/>
          <a:p>
            <a:pPr algn="ctr"/>
            <a:r>
              <a:rPr lang="en-US" sz="4400" dirty="0" smtClean="0">
                <a:ln w="10160">
                  <a:solidFill>
                    <a:srgbClr val="C00000"/>
                  </a:solidFill>
                  <a:prstDash val="solid"/>
                </a:ln>
                <a:solidFill>
                  <a:srgbClr val="FFFFFF"/>
                </a:solidFill>
                <a:effectLst>
                  <a:outerShdw blurRad="38100" dist="32000" dir="5400000" algn="tl">
                    <a:srgbClr val="000000">
                      <a:alpha val="30000"/>
                    </a:srgbClr>
                  </a:outerShdw>
                </a:effectLst>
              </a:rPr>
              <a:t>Types of star schema</a:t>
            </a:r>
            <a:endParaRPr lang="en-US" sz="4400" dirty="0">
              <a:ln w="10160">
                <a:solidFill>
                  <a:srgbClr val="C00000"/>
                </a:solidFill>
                <a:prstDash val="solid"/>
              </a:ln>
              <a:solidFill>
                <a:srgbClr val="FFFFFF"/>
              </a:solidFill>
              <a:effectLst>
                <a:outerShdw blurRad="38100" dist="32000" dir="5400000" algn="tl">
                  <a:srgbClr val="000000">
                    <a:alpha val="30000"/>
                  </a:srgbClr>
                </a:outerShdw>
              </a:effectLst>
            </a:endParaRPr>
          </a:p>
        </p:txBody>
      </p:sp>
      <p:sp>
        <p:nvSpPr>
          <p:cNvPr id="7" name="Rectangle 6"/>
          <p:cNvSpPr/>
          <p:nvPr/>
        </p:nvSpPr>
        <p:spPr>
          <a:xfrm>
            <a:off x="1643042" y="2857496"/>
            <a:ext cx="2633799" cy="769441"/>
          </a:xfrm>
          <a:prstGeom prst="rect">
            <a:avLst/>
          </a:prstGeom>
          <a:noFill/>
        </p:spPr>
        <p:txBody>
          <a:bodyPr wrap="none" lIns="91440" tIns="45720" rIns="91440" bIns="45720">
            <a:spAutoFit/>
          </a:bodyPr>
          <a:lstStyle/>
          <a:p>
            <a:pPr algn="ctr"/>
            <a:r>
              <a:rPr lang="en-US" sz="4400" dirty="0" smtClean="0">
                <a:ln w="10160">
                  <a:solidFill>
                    <a:srgbClr val="C00000"/>
                  </a:solidFill>
                  <a:prstDash val="solid"/>
                </a:ln>
                <a:solidFill>
                  <a:srgbClr val="FFFFFF"/>
                </a:solidFill>
                <a:effectLst>
                  <a:outerShdw blurRad="38100" dist="32000" dir="5400000" algn="tl">
                    <a:srgbClr val="000000">
                      <a:alpha val="30000"/>
                    </a:srgbClr>
                  </a:outerShdw>
                </a:effectLst>
              </a:rPr>
              <a:t>Fact Table</a:t>
            </a:r>
            <a:endParaRPr lang="en-US" sz="4400" dirty="0">
              <a:ln w="10160">
                <a:solidFill>
                  <a:srgbClr val="C00000"/>
                </a:solidFill>
                <a:prstDash val="solid"/>
              </a:ln>
              <a:solidFill>
                <a:srgbClr val="FFFFFF"/>
              </a:solidFill>
              <a:effectLst>
                <a:outerShdw blurRad="38100" dist="32000" dir="5400000" algn="tl">
                  <a:srgbClr val="000000">
                    <a:alpha val="30000"/>
                  </a:srgbClr>
                </a:outerShdw>
              </a:effectLst>
            </a:endParaRPr>
          </a:p>
        </p:txBody>
      </p:sp>
      <p:sp>
        <p:nvSpPr>
          <p:cNvPr id="9" name="Bent Arrow 8"/>
          <p:cNvSpPr/>
          <p:nvPr/>
        </p:nvSpPr>
        <p:spPr>
          <a:xfrm rot="10800000">
            <a:off x="2714612" y="1357298"/>
            <a:ext cx="1785950" cy="150019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Bent Arrow 9"/>
          <p:cNvSpPr/>
          <p:nvPr/>
        </p:nvSpPr>
        <p:spPr>
          <a:xfrm flipV="1">
            <a:off x="4572000" y="1357298"/>
            <a:ext cx="1785950" cy="1490674"/>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p:cNvSpPr/>
          <p:nvPr/>
        </p:nvSpPr>
        <p:spPr>
          <a:xfrm>
            <a:off x="5357818" y="2857496"/>
            <a:ext cx="2701189" cy="769441"/>
          </a:xfrm>
          <a:prstGeom prst="rect">
            <a:avLst/>
          </a:prstGeom>
          <a:noFill/>
        </p:spPr>
        <p:txBody>
          <a:bodyPr wrap="none" lIns="91440" tIns="45720" rIns="91440" bIns="45720">
            <a:spAutoFit/>
          </a:bodyPr>
          <a:lstStyle/>
          <a:p>
            <a:pPr algn="ctr"/>
            <a:r>
              <a:rPr lang="en-US" sz="4400" dirty="0" smtClean="0">
                <a:ln w="10160">
                  <a:solidFill>
                    <a:srgbClr val="C00000"/>
                  </a:solidFill>
                  <a:prstDash val="solid"/>
                </a:ln>
                <a:solidFill>
                  <a:srgbClr val="FFFFFF"/>
                </a:solidFill>
                <a:effectLst>
                  <a:outerShdw blurRad="38100" dist="32000" dir="5400000" algn="tl">
                    <a:srgbClr val="000000">
                      <a:alpha val="30000"/>
                    </a:srgbClr>
                  </a:outerShdw>
                </a:effectLst>
              </a:rPr>
              <a:t>Dim Table</a:t>
            </a:r>
            <a:endParaRPr lang="en-US" sz="4400" dirty="0">
              <a:ln w="10160">
                <a:solidFill>
                  <a:srgbClr val="C00000"/>
                </a:solidFill>
                <a:prstDash val="solid"/>
              </a:ln>
              <a:solidFill>
                <a:srgbClr val="FFFFFF"/>
              </a:solidFill>
              <a:effectLst>
                <a:outerShdw blurRad="38100" dist="32000" dir="5400000" algn="tl">
                  <a:srgbClr val="000000">
                    <a:alpha val="30000"/>
                  </a:srgbClr>
                </a:outerShdw>
              </a:effectLst>
            </a:endParaRPr>
          </a:p>
        </p:txBody>
      </p:sp>
      <p:sp>
        <p:nvSpPr>
          <p:cNvPr id="16" name="Content Placeholder 1"/>
          <p:cNvSpPr>
            <a:spLocks noGrp="1"/>
          </p:cNvSpPr>
          <p:nvPr>
            <p:ph idx="1"/>
          </p:nvPr>
        </p:nvSpPr>
        <p:spPr>
          <a:xfrm>
            <a:off x="1142976" y="3643314"/>
            <a:ext cx="3643338" cy="1500198"/>
          </a:xfrm>
        </p:spPr>
        <p:txBody>
          <a:bodyPr>
            <a:normAutofit fontScale="77500" lnSpcReduction="20000"/>
          </a:bodyPr>
          <a:lstStyle/>
          <a:p>
            <a:r>
              <a:rPr lang="en-US" sz="2800" dirty="0" smtClean="0"/>
              <a:t>nothing can be changed it remains fixed </a:t>
            </a:r>
          </a:p>
          <a:p>
            <a:endParaRPr lang="en-US" sz="2400" dirty="0" smtClean="0"/>
          </a:p>
          <a:p>
            <a:r>
              <a:rPr lang="en-US" sz="2400" dirty="0" smtClean="0"/>
              <a:t>It comes after dimension table</a:t>
            </a:r>
          </a:p>
          <a:p>
            <a:endParaRPr lang="en-US" sz="2800" dirty="0" smtClean="0"/>
          </a:p>
          <a:p>
            <a:pPr>
              <a:buNone/>
            </a:pPr>
            <a:endParaRPr lang="en-IN" dirty="0" smtClean="0"/>
          </a:p>
        </p:txBody>
      </p:sp>
      <p:sp>
        <p:nvSpPr>
          <p:cNvPr id="17" name="Content Placeholder 1"/>
          <p:cNvSpPr txBox="1">
            <a:spLocks/>
          </p:cNvSpPr>
          <p:nvPr/>
        </p:nvSpPr>
        <p:spPr>
          <a:xfrm>
            <a:off x="5357818" y="3714752"/>
            <a:ext cx="2571768" cy="1071570"/>
          </a:xfrm>
          <a:prstGeom prst="rect">
            <a:avLst/>
          </a:prstGeom>
        </p:spPr>
        <p:txBody>
          <a:bodyPr vert="horz">
            <a:normAutofit fontScale="77500" lnSpcReduction="20000"/>
          </a:bodyPr>
          <a:lstStyle/>
          <a:p>
            <a:pPr marL="274320" marR="0" lvl="0" indent="-274320" algn="l" defTabSz="914400" rtl="0" eaLnBrk="1" fontAlgn="auto" latinLnBrk="0" hangingPunct="1">
              <a:lnSpc>
                <a:spcPct val="100000"/>
              </a:lnSpc>
              <a:spcBef>
                <a:spcPts val="600"/>
              </a:spcBef>
              <a:spcAft>
                <a:spcPts val="0"/>
              </a:spcAft>
              <a:buClr>
                <a:schemeClr val="accent2"/>
              </a:buClr>
              <a:buSzPct val="85000"/>
              <a:buFont typeface="Wingdings 2"/>
              <a:buChar char=""/>
              <a:tabLst/>
              <a:defRPr/>
            </a:pPr>
            <a:r>
              <a:rPr lang="en-US" sz="2800" dirty="0" smtClean="0"/>
              <a:t>Supportive value</a:t>
            </a:r>
            <a:endParaRPr lang="en-IN" sz="2600" dirty="0" smtClean="0"/>
          </a:p>
          <a:p>
            <a:pPr marL="274320" marR="0" lvl="0" indent="-274320" algn="l" defTabSz="914400" rtl="0" eaLnBrk="1" fontAlgn="auto" latinLnBrk="0" hangingPunct="1">
              <a:lnSpc>
                <a:spcPct val="100000"/>
              </a:lnSpc>
              <a:spcBef>
                <a:spcPts val="600"/>
              </a:spcBef>
              <a:spcAft>
                <a:spcPts val="0"/>
              </a:spcAft>
              <a:buClr>
                <a:schemeClr val="accent2"/>
              </a:buClr>
              <a:buSzPct val="85000"/>
              <a:tabLst/>
              <a:defRPr/>
            </a:pPr>
            <a:endParaRPr lang="en-IN" sz="2600" dirty="0" smtClean="0"/>
          </a:p>
          <a:p>
            <a:pPr marL="274320" marR="0" lvl="0" indent="-274320" algn="l" defTabSz="914400" rtl="0" eaLnBrk="1" fontAlgn="auto" latinLnBrk="0" hangingPunct="1">
              <a:lnSpc>
                <a:spcPct val="100000"/>
              </a:lnSpc>
              <a:spcBef>
                <a:spcPts val="600"/>
              </a:spcBef>
              <a:spcAft>
                <a:spcPts val="0"/>
              </a:spcAft>
              <a:buClr>
                <a:schemeClr val="accent2"/>
              </a:buClr>
              <a:buSzPct val="85000"/>
              <a:buFont typeface="Wingdings 2"/>
              <a:buChar char=""/>
              <a:tabLst/>
              <a:defRPr/>
            </a:pPr>
            <a:r>
              <a:rPr lang="en-IN" sz="2600" dirty="0" smtClean="0"/>
              <a:t>It comes first</a:t>
            </a:r>
          </a:p>
          <a:p>
            <a:pPr marL="274320" marR="0" lvl="0" indent="-274320" algn="l" defTabSz="914400" rtl="0" eaLnBrk="1" fontAlgn="auto" latinLnBrk="0" hangingPunct="1">
              <a:lnSpc>
                <a:spcPct val="100000"/>
              </a:lnSpc>
              <a:spcBef>
                <a:spcPts val="600"/>
              </a:spcBef>
              <a:spcAft>
                <a:spcPts val="0"/>
              </a:spcAft>
              <a:buClr>
                <a:schemeClr val="accent2"/>
              </a:buClr>
              <a:buSzPct val="85000"/>
              <a:buFont typeface="Wingdings 2"/>
              <a:buChar char=""/>
              <a:tabLst/>
              <a:defRPr/>
            </a:pPr>
            <a:endParaRPr lang="en-US" sz="2800" dirty="0" smtClean="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by="(-#ppt_w*2)" calcmode="lin" valueType="num">
                                      <p:cBhvr rctx="PPT">
                                        <p:cTn id="7" dur="500" autoRev="1" fill="hold">
                                          <p:stCondLst>
                                            <p:cond delay="0"/>
                                          </p:stCondLst>
                                        </p:cTn>
                                        <p:tgtEl>
                                          <p:spTgt spid="5"/>
                                        </p:tgtEl>
                                        <p:attrNameLst>
                                          <p:attrName>ppt_w</p:attrName>
                                        </p:attrNameLst>
                                      </p:cBhvr>
                                    </p:anim>
                                    <p:anim by="(#ppt_w*0.50)" calcmode="lin" valueType="num">
                                      <p:cBhvr>
                                        <p:cTn id="8" dur="500" decel="50000" autoRev="1" fill="hold">
                                          <p:stCondLst>
                                            <p:cond delay="0"/>
                                          </p:stCondLst>
                                        </p:cTn>
                                        <p:tgtEl>
                                          <p:spTgt spid="5"/>
                                        </p:tgtEl>
                                        <p:attrNameLst>
                                          <p:attrName>ppt_x</p:attrName>
                                        </p:attrNameLst>
                                      </p:cBhvr>
                                    </p:anim>
                                    <p:anim from="(-#ppt_h/2)" to="(#ppt_y)" calcmode="lin" valueType="num">
                                      <p:cBhvr>
                                        <p:cTn id="9" dur="1000" fill="hold">
                                          <p:stCondLst>
                                            <p:cond delay="0"/>
                                          </p:stCondLst>
                                        </p:cTn>
                                        <p:tgtEl>
                                          <p:spTgt spid="5"/>
                                        </p:tgtEl>
                                        <p:attrNameLst>
                                          <p:attrName>ppt_y</p:attrName>
                                        </p:attrNameLst>
                                      </p:cBhvr>
                                    </p:anim>
                                    <p:animRot by="21600000">
                                      <p:cBhvr>
                                        <p:cTn id="10" dur="1000" fill="hold">
                                          <p:stCondLst>
                                            <p:cond delay="0"/>
                                          </p:stCondLst>
                                        </p:cTn>
                                        <p:tgtEl>
                                          <p:spTgt spid="5"/>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80">
                                          <p:stCondLst>
                                            <p:cond delay="0"/>
                                          </p:stCondLst>
                                        </p:cTn>
                                        <p:tgtEl>
                                          <p:spTgt spid="10"/>
                                        </p:tgtEl>
                                      </p:cBhvr>
                                    </p:animEffect>
                                    <p:anim calcmode="lin" valueType="num">
                                      <p:cBhvr>
                                        <p:cTn id="1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1" dur="26">
                                          <p:stCondLst>
                                            <p:cond delay="650"/>
                                          </p:stCondLst>
                                        </p:cTn>
                                        <p:tgtEl>
                                          <p:spTgt spid="10"/>
                                        </p:tgtEl>
                                      </p:cBhvr>
                                      <p:to x="100000" y="60000"/>
                                    </p:animScale>
                                    <p:animScale>
                                      <p:cBhvr>
                                        <p:cTn id="22" dur="166" decel="50000">
                                          <p:stCondLst>
                                            <p:cond delay="676"/>
                                          </p:stCondLst>
                                        </p:cTn>
                                        <p:tgtEl>
                                          <p:spTgt spid="10"/>
                                        </p:tgtEl>
                                      </p:cBhvr>
                                      <p:to x="100000" y="100000"/>
                                    </p:animScale>
                                    <p:animScale>
                                      <p:cBhvr>
                                        <p:cTn id="23" dur="26">
                                          <p:stCondLst>
                                            <p:cond delay="1312"/>
                                          </p:stCondLst>
                                        </p:cTn>
                                        <p:tgtEl>
                                          <p:spTgt spid="10"/>
                                        </p:tgtEl>
                                      </p:cBhvr>
                                      <p:to x="100000" y="80000"/>
                                    </p:animScale>
                                    <p:animScale>
                                      <p:cBhvr>
                                        <p:cTn id="24" dur="166" decel="50000">
                                          <p:stCondLst>
                                            <p:cond delay="1338"/>
                                          </p:stCondLst>
                                        </p:cTn>
                                        <p:tgtEl>
                                          <p:spTgt spid="10"/>
                                        </p:tgtEl>
                                      </p:cBhvr>
                                      <p:to x="100000" y="100000"/>
                                    </p:animScale>
                                    <p:animScale>
                                      <p:cBhvr>
                                        <p:cTn id="25" dur="26">
                                          <p:stCondLst>
                                            <p:cond delay="1642"/>
                                          </p:stCondLst>
                                        </p:cTn>
                                        <p:tgtEl>
                                          <p:spTgt spid="10"/>
                                        </p:tgtEl>
                                      </p:cBhvr>
                                      <p:to x="100000" y="90000"/>
                                    </p:animScale>
                                    <p:animScale>
                                      <p:cBhvr>
                                        <p:cTn id="26" dur="166" decel="50000">
                                          <p:stCondLst>
                                            <p:cond delay="1668"/>
                                          </p:stCondLst>
                                        </p:cTn>
                                        <p:tgtEl>
                                          <p:spTgt spid="10"/>
                                        </p:tgtEl>
                                      </p:cBhvr>
                                      <p:to x="100000" y="100000"/>
                                    </p:animScale>
                                    <p:animScale>
                                      <p:cBhvr>
                                        <p:cTn id="27" dur="26">
                                          <p:stCondLst>
                                            <p:cond delay="1808"/>
                                          </p:stCondLst>
                                        </p:cTn>
                                        <p:tgtEl>
                                          <p:spTgt spid="10"/>
                                        </p:tgtEl>
                                      </p:cBhvr>
                                      <p:to x="100000" y="95000"/>
                                    </p:animScale>
                                    <p:animScale>
                                      <p:cBhvr>
                                        <p:cTn id="28" dur="166" decel="50000">
                                          <p:stCondLst>
                                            <p:cond delay="1834"/>
                                          </p:stCondLst>
                                        </p:cTn>
                                        <p:tgtEl>
                                          <p:spTgt spid="10"/>
                                        </p:tgtEl>
                                      </p:cBhvr>
                                      <p:to x="100000" y="100000"/>
                                    </p:animScale>
                                  </p:childTnLst>
                                </p:cTn>
                              </p:par>
                              <p:par>
                                <p:cTn id="29" presetID="26"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80">
                                          <p:stCondLst>
                                            <p:cond delay="0"/>
                                          </p:stCondLst>
                                        </p:cTn>
                                        <p:tgtEl>
                                          <p:spTgt spid="9"/>
                                        </p:tgtEl>
                                      </p:cBhvr>
                                    </p:animEffect>
                                    <p:anim calcmode="lin" valueType="num">
                                      <p:cBhvr>
                                        <p:cTn id="3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7" dur="26">
                                          <p:stCondLst>
                                            <p:cond delay="650"/>
                                          </p:stCondLst>
                                        </p:cTn>
                                        <p:tgtEl>
                                          <p:spTgt spid="9"/>
                                        </p:tgtEl>
                                      </p:cBhvr>
                                      <p:to x="100000" y="60000"/>
                                    </p:animScale>
                                    <p:animScale>
                                      <p:cBhvr>
                                        <p:cTn id="38" dur="166" decel="50000">
                                          <p:stCondLst>
                                            <p:cond delay="676"/>
                                          </p:stCondLst>
                                        </p:cTn>
                                        <p:tgtEl>
                                          <p:spTgt spid="9"/>
                                        </p:tgtEl>
                                      </p:cBhvr>
                                      <p:to x="100000" y="100000"/>
                                    </p:animScale>
                                    <p:animScale>
                                      <p:cBhvr>
                                        <p:cTn id="39" dur="26">
                                          <p:stCondLst>
                                            <p:cond delay="1312"/>
                                          </p:stCondLst>
                                        </p:cTn>
                                        <p:tgtEl>
                                          <p:spTgt spid="9"/>
                                        </p:tgtEl>
                                      </p:cBhvr>
                                      <p:to x="100000" y="80000"/>
                                    </p:animScale>
                                    <p:animScale>
                                      <p:cBhvr>
                                        <p:cTn id="40" dur="166" decel="50000">
                                          <p:stCondLst>
                                            <p:cond delay="1338"/>
                                          </p:stCondLst>
                                        </p:cTn>
                                        <p:tgtEl>
                                          <p:spTgt spid="9"/>
                                        </p:tgtEl>
                                      </p:cBhvr>
                                      <p:to x="100000" y="100000"/>
                                    </p:animScale>
                                    <p:animScale>
                                      <p:cBhvr>
                                        <p:cTn id="41" dur="26">
                                          <p:stCondLst>
                                            <p:cond delay="1642"/>
                                          </p:stCondLst>
                                        </p:cTn>
                                        <p:tgtEl>
                                          <p:spTgt spid="9"/>
                                        </p:tgtEl>
                                      </p:cBhvr>
                                      <p:to x="100000" y="90000"/>
                                    </p:animScale>
                                    <p:animScale>
                                      <p:cBhvr>
                                        <p:cTn id="42" dur="166" decel="50000">
                                          <p:stCondLst>
                                            <p:cond delay="1668"/>
                                          </p:stCondLst>
                                        </p:cTn>
                                        <p:tgtEl>
                                          <p:spTgt spid="9"/>
                                        </p:tgtEl>
                                      </p:cBhvr>
                                      <p:to x="100000" y="100000"/>
                                    </p:animScale>
                                    <p:animScale>
                                      <p:cBhvr>
                                        <p:cTn id="43" dur="26">
                                          <p:stCondLst>
                                            <p:cond delay="1808"/>
                                          </p:stCondLst>
                                        </p:cTn>
                                        <p:tgtEl>
                                          <p:spTgt spid="9"/>
                                        </p:tgtEl>
                                      </p:cBhvr>
                                      <p:to x="100000" y="95000"/>
                                    </p:animScale>
                                    <p:animScale>
                                      <p:cBhvr>
                                        <p:cTn id="44" dur="166" decel="50000">
                                          <p:stCondLst>
                                            <p:cond delay="1834"/>
                                          </p:stCondLst>
                                        </p:cTn>
                                        <p:tgtEl>
                                          <p:spTgt spid="9"/>
                                        </p:tgtEl>
                                      </p:cBhvr>
                                      <p:to x="100000" y="100000"/>
                                    </p:animScale>
                                  </p:childTnLst>
                                </p:cTn>
                              </p:par>
                              <p:par>
                                <p:cTn id="45" presetID="26"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par>
                                <p:cTn id="61" presetID="26"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down)">
                                      <p:cBhvr>
                                        <p:cTn id="63" dur="580">
                                          <p:stCondLst>
                                            <p:cond delay="0"/>
                                          </p:stCondLst>
                                        </p:cTn>
                                        <p:tgtEl>
                                          <p:spTgt spid="11"/>
                                        </p:tgtEl>
                                      </p:cBhvr>
                                    </p:animEffect>
                                    <p:anim calcmode="lin" valueType="num">
                                      <p:cBhvr>
                                        <p:cTn id="6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69" dur="26">
                                          <p:stCondLst>
                                            <p:cond delay="650"/>
                                          </p:stCondLst>
                                        </p:cTn>
                                        <p:tgtEl>
                                          <p:spTgt spid="11"/>
                                        </p:tgtEl>
                                      </p:cBhvr>
                                      <p:to x="100000" y="60000"/>
                                    </p:animScale>
                                    <p:animScale>
                                      <p:cBhvr>
                                        <p:cTn id="70" dur="166" decel="50000">
                                          <p:stCondLst>
                                            <p:cond delay="676"/>
                                          </p:stCondLst>
                                        </p:cTn>
                                        <p:tgtEl>
                                          <p:spTgt spid="11"/>
                                        </p:tgtEl>
                                      </p:cBhvr>
                                      <p:to x="100000" y="100000"/>
                                    </p:animScale>
                                    <p:animScale>
                                      <p:cBhvr>
                                        <p:cTn id="71" dur="26">
                                          <p:stCondLst>
                                            <p:cond delay="1312"/>
                                          </p:stCondLst>
                                        </p:cTn>
                                        <p:tgtEl>
                                          <p:spTgt spid="11"/>
                                        </p:tgtEl>
                                      </p:cBhvr>
                                      <p:to x="100000" y="80000"/>
                                    </p:animScale>
                                    <p:animScale>
                                      <p:cBhvr>
                                        <p:cTn id="72" dur="166" decel="50000">
                                          <p:stCondLst>
                                            <p:cond delay="1338"/>
                                          </p:stCondLst>
                                        </p:cTn>
                                        <p:tgtEl>
                                          <p:spTgt spid="11"/>
                                        </p:tgtEl>
                                      </p:cBhvr>
                                      <p:to x="100000" y="100000"/>
                                    </p:animScale>
                                    <p:animScale>
                                      <p:cBhvr>
                                        <p:cTn id="73" dur="26">
                                          <p:stCondLst>
                                            <p:cond delay="1642"/>
                                          </p:stCondLst>
                                        </p:cTn>
                                        <p:tgtEl>
                                          <p:spTgt spid="11"/>
                                        </p:tgtEl>
                                      </p:cBhvr>
                                      <p:to x="100000" y="90000"/>
                                    </p:animScale>
                                    <p:animScale>
                                      <p:cBhvr>
                                        <p:cTn id="74" dur="166" decel="50000">
                                          <p:stCondLst>
                                            <p:cond delay="1668"/>
                                          </p:stCondLst>
                                        </p:cTn>
                                        <p:tgtEl>
                                          <p:spTgt spid="11"/>
                                        </p:tgtEl>
                                      </p:cBhvr>
                                      <p:to x="100000" y="100000"/>
                                    </p:animScale>
                                    <p:animScale>
                                      <p:cBhvr>
                                        <p:cTn id="75" dur="26">
                                          <p:stCondLst>
                                            <p:cond delay="1808"/>
                                          </p:stCondLst>
                                        </p:cTn>
                                        <p:tgtEl>
                                          <p:spTgt spid="11"/>
                                        </p:tgtEl>
                                      </p:cBhvr>
                                      <p:to x="100000" y="95000"/>
                                    </p:animScale>
                                    <p:animScale>
                                      <p:cBhvr>
                                        <p:cTn id="76" dur="166" decel="50000">
                                          <p:stCondLst>
                                            <p:cond delay="1834"/>
                                          </p:stCondLst>
                                        </p:cTn>
                                        <p:tgtEl>
                                          <p:spTgt spid="11"/>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41" presetClass="entr" presetSubtype="0" fill="hold" grpId="0" nodeType="clickEffect">
                                  <p:stCondLst>
                                    <p:cond delay="0"/>
                                  </p:stCondLst>
                                  <p:iterate type="lt">
                                    <p:tmPct val="10000"/>
                                  </p:iterate>
                                  <p:childTnLst>
                                    <p:set>
                                      <p:cBhvr>
                                        <p:cTn id="80" dur="1" fill="hold">
                                          <p:stCondLst>
                                            <p:cond delay="0"/>
                                          </p:stCondLst>
                                        </p:cTn>
                                        <p:tgtEl>
                                          <p:spTgt spid="16">
                                            <p:txEl>
                                              <p:pRg st="0" end="0"/>
                                            </p:txEl>
                                          </p:spTgt>
                                        </p:tgtEl>
                                        <p:attrNameLst>
                                          <p:attrName>style.visibility</p:attrName>
                                        </p:attrNameLst>
                                      </p:cBhvr>
                                      <p:to>
                                        <p:strVal val="visible"/>
                                      </p:to>
                                    </p:set>
                                    <p:anim calcmode="lin" valueType="num">
                                      <p:cBhvr>
                                        <p:cTn id="81" dur="500" fill="hold"/>
                                        <p:tgtEl>
                                          <p:spTgt spid="16">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2" dur="500" fill="hold"/>
                                        <p:tgtEl>
                                          <p:spTgt spid="16">
                                            <p:txEl>
                                              <p:pRg st="0" end="0"/>
                                            </p:txEl>
                                          </p:spTgt>
                                        </p:tgtEl>
                                        <p:attrNameLst>
                                          <p:attrName>ppt_y</p:attrName>
                                        </p:attrNameLst>
                                      </p:cBhvr>
                                      <p:tavLst>
                                        <p:tav tm="0">
                                          <p:val>
                                            <p:strVal val="#ppt_y"/>
                                          </p:val>
                                        </p:tav>
                                        <p:tav tm="100000">
                                          <p:val>
                                            <p:strVal val="#ppt_y"/>
                                          </p:val>
                                        </p:tav>
                                      </p:tavLst>
                                    </p:anim>
                                    <p:anim calcmode="lin" valueType="num">
                                      <p:cBhvr>
                                        <p:cTn id="83" dur="500" fill="hold"/>
                                        <p:tgtEl>
                                          <p:spTgt spid="16">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4" dur="500" fill="hold"/>
                                        <p:tgtEl>
                                          <p:spTgt spid="16">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5" dur="500" tmFilter="0,0; .5, 1; 1, 1"/>
                                        <p:tgtEl>
                                          <p:spTgt spid="16">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41" presetClass="entr" presetSubtype="0" fill="hold" grpId="0" nodeType="clickEffect">
                                  <p:stCondLst>
                                    <p:cond delay="0"/>
                                  </p:stCondLst>
                                  <p:iterate type="lt">
                                    <p:tmPct val="10000"/>
                                  </p:iterate>
                                  <p:childTnLst>
                                    <p:set>
                                      <p:cBhvr>
                                        <p:cTn id="89" dur="1" fill="hold">
                                          <p:stCondLst>
                                            <p:cond delay="0"/>
                                          </p:stCondLst>
                                        </p:cTn>
                                        <p:tgtEl>
                                          <p:spTgt spid="16">
                                            <p:txEl>
                                              <p:pRg st="2" end="2"/>
                                            </p:txEl>
                                          </p:spTgt>
                                        </p:tgtEl>
                                        <p:attrNameLst>
                                          <p:attrName>style.visibility</p:attrName>
                                        </p:attrNameLst>
                                      </p:cBhvr>
                                      <p:to>
                                        <p:strVal val="visible"/>
                                      </p:to>
                                    </p:set>
                                    <p:anim calcmode="lin" valueType="num">
                                      <p:cBhvr>
                                        <p:cTn id="90" dur="500" fill="hold"/>
                                        <p:tgtEl>
                                          <p:spTgt spid="16">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91" dur="500" fill="hold"/>
                                        <p:tgtEl>
                                          <p:spTgt spid="16">
                                            <p:txEl>
                                              <p:pRg st="2" end="2"/>
                                            </p:txEl>
                                          </p:spTgt>
                                        </p:tgtEl>
                                        <p:attrNameLst>
                                          <p:attrName>ppt_y</p:attrName>
                                        </p:attrNameLst>
                                      </p:cBhvr>
                                      <p:tavLst>
                                        <p:tav tm="0">
                                          <p:val>
                                            <p:strVal val="#ppt_y"/>
                                          </p:val>
                                        </p:tav>
                                        <p:tav tm="100000">
                                          <p:val>
                                            <p:strVal val="#ppt_y"/>
                                          </p:val>
                                        </p:tav>
                                      </p:tavLst>
                                    </p:anim>
                                    <p:anim calcmode="lin" valueType="num">
                                      <p:cBhvr>
                                        <p:cTn id="92" dur="500" fill="hold"/>
                                        <p:tgtEl>
                                          <p:spTgt spid="16">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93" dur="500" fill="hold"/>
                                        <p:tgtEl>
                                          <p:spTgt spid="16">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94" dur="500" tmFilter="0,0; .5, 1; 1, 1"/>
                                        <p:tgtEl>
                                          <p:spTgt spid="16">
                                            <p:txEl>
                                              <p:pRg st="2" end="2"/>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41" presetClass="entr" presetSubtype="0" fill="hold" grpId="0" nodeType="clickEffect">
                                  <p:stCondLst>
                                    <p:cond delay="0"/>
                                  </p:stCondLst>
                                  <p:iterate type="lt">
                                    <p:tmPct val="10000"/>
                                  </p:iterate>
                                  <p:childTnLst>
                                    <p:set>
                                      <p:cBhvr>
                                        <p:cTn id="98" dur="1" fill="hold">
                                          <p:stCondLst>
                                            <p:cond delay="0"/>
                                          </p:stCondLst>
                                        </p:cTn>
                                        <p:tgtEl>
                                          <p:spTgt spid="17"/>
                                        </p:tgtEl>
                                        <p:attrNameLst>
                                          <p:attrName>style.visibility</p:attrName>
                                        </p:attrNameLst>
                                      </p:cBhvr>
                                      <p:to>
                                        <p:strVal val="visible"/>
                                      </p:to>
                                    </p:set>
                                    <p:anim calcmode="lin" valueType="num">
                                      <p:cBhvr>
                                        <p:cTn id="99"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100" dur="500" fill="hold"/>
                                        <p:tgtEl>
                                          <p:spTgt spid="17"/>
                                        </p:tgtEl>
                                        <p:attrNameLst>
                                          <p:attrName>ppt_y</p:attrName>
                                        </p:attrNameLst>
                                      </p:cBhvr>
                                      <p:tavLst>
                                        <p:tav tm="0">
                                          <p:val>
                                            <p:strVal val="#ppt_y"/>
                                          </p:val>
                                        </p:tav>
                                        <p:tav tm="100000">
                                          <p:val>
                                            <p:strVal val="#ppt_y"/>
                                          </p:val>
                                        </p:tav>
                                      </p:tavLst>
                                    </p:anim>
                                    <p:anim calcmode="lin" valueType="num">
                                      <p:cBhvr>
                                        <p:cTn id="101"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02"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03" dur="500" tmFilter="0,0; .5, 1; 1, 1"/>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P spid="10" grpId="0" animBg="1"/>
      <p:bldP spid="11" grpId="0"/>
      <p:bldP spid="16" grpId="0" build="p"/>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5-Point Star 4"/>
          <p:cNvSpPr/>
          <p:nvPr/>
        </p:nvSpPr>
        <p:spPr>
          <a:xfrm>
            <a:off x="714348" y="285728"/>
            <a:ext cx="7429552" cy="6000792"/>
          </a:xfrm>
          <a:prstGeom prst="star5">
            <a:avLst/>
          </a:prstGeom>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000496" y="2857496"/>
            <a:ext cx="857256" cy="1428760"/>
          </a:xfrm>
          <a:prstGeom prst="roundRect">
            <a:avLst>
              <a:gd name="adj" fmla="val 15617"/>
            </a:avLst>
          </a:prstGeom>
          <a:effectLst>
            <a:glow rad="101600">
              <a:schemeClr val="tx1">
                <a:alpha val="60000"/>
              </a:schemeClr>
            </a:glo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Fact Table</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7" name="Oval 6"/>
          <p:cNvSpPr/>
          <p:nvPr/>
        </p:nvSpPr>
        <p:spPr>
          <a:xfrm>
            <a:off x="3786182" y="1500174"/>
            <a:ext cx="1285884" cy="1071570"/>
          </a:xfrm>
          <a:prstGeom prst="ellipse">
            <a:avLst/>
          </a:prstGeom>
          <a:scene3d>
            <a:camera prst="orthographicFront"/>
            <a:lightRig rig="threePt" dir="t"/>
          </a:scene3d>
          <a:sp3d>
            <a:bevelT w="1143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Dim</a:t>
            </a:r>
          </a:p>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Table</a:t>
            </a:r>
            <a:endParaRPr lang="en-US" dirty="0">
              <a:ln>
                <a:solidFill>
                  <a:sysClr val="windowText" lastClr="000000"/>
                </a:solidFill>
              </a:ln>
            </a:endParaRPr>
          </a:p>
        </p:txBody>
      </p:sp>
      <p:sp>
        <p:nvSpPr>
          <p:cNvPr id="8" name="Oval 7"/>
          <p:cNvSpPr/>
          <p:nvPr/>
        </p:nvSpPr>
        <p:spPr>
          <a:xfrm>
            <a:off x="5572132" y="2571744"/>
            <a:ext cx="1285884" cy="1071570"/>
          </a:xfrm>
          <a:prstGeom prst="ellipse">
            <a:avLst/>
          </a:prstGeom>
          <a:scene3d>
            <a:camera prst="orthographicFront"/>
            <a:lightRig rig="threePt" dir="t"/>
          </a:scene3d>
          <a:sp3d>
            <a:bevelT w="1143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Dim</a:t>
            </a:r>
          </a:p>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Table</a:t>
            </a:r>
            <a:endParaRPr lang="en-US" dirty="0">
              <a:ln>
                <a:solidFill>
                  <a:sysClr val="windowText" lastClr="000000"/>
                </a:solidFill>
              </a:ln>
            </a:endParaRPr>
          </a:p>
        </p:txBody>
      </p:sp>
      <p:sp>
        <p:nvSpPr>
          <p:cNvPr id="9" name="Oval 8"/>
          <p:cNvSpPr/>
          <p:nvPr/>
        </p:nvSpPr>
        <p:spPr>
          <a:xfrm>
            <a:off x="4857752" y="4286256"/>
            <a:ext cx="1285884" cy="1071570"/>
          </a:xfrm>
          <a:prstGeom prst="ellipse">
            <a:avLst/>
          </a:prstGeom>
          <a:scene3d>
            <a:camera prst="orthographicFront"/>
            <a:lightRig rig="threePt" dir="t"/>
          </a:scene3d>
          <a:sp3d>
            <a:bevelT w="1143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Dim</a:t>
            </a:r>
          </a:p>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Table</a:t>
            </a:r>
            <a:endParaRPr lang="en-US" dirty="0">
              <a:ln>
                <a:solidFill>
                  <a:sysClr val="windowText" lastClr="000000"/>
                </a:solidFill>
              </a:ln>
            </a:endParaRPr>
          </a:p>
        </p:txBody>
      </p:sp>
      <p:sp>
        <p:nvSpPr>
          <p:cNvPr id="10" name="Oval 9"/>
          <p:cNvSpPr/>
          <p:nvPr/>
        </p:nvSpPr>
        <p:spPr>
          <a:xfrm>
            <a:off x="2714612" y="4357694"/>
            <a:ext cx="1285884" cy="1071570"/>
          </a:xfrm>
          <a:prstGeom prst="ellipse">
            <a:avLst/>
          </a:prstGeom>
          <a:scene3d>
            <a:camera prst="orthographicFront"/>
            <a:lightRig rig="threePt" dir="t"/>
          </a:scene3d>
          <a:sp3d>
            <a:bevelT w="1143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Dim</a:t>
            </a:r>
          </a:p>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Table</a:t>
            </a:r>
            <a:endParaRPr lang="en-US" dirty="0">
              <a:ln>
                <a:solidFill>
                  <a:sysClr val="windowText" lastClr="000000"/>
                </a:solidFill>
              </a:ln>
            </a:endParaRPr>
          </a:p>
        </p:txBody>
      </p:sp>
      <p:sp>
        <p:nvSpPr>
          <p:cNvPr id="11" name="Oval 10"/>
          <p:cNvSpPr/>
          <p:nvPr/>
        </p:nvSpPr>
        <p:spPr>
          <a:xfrm>
            <a:off x="2000232" y="2571744"/>
            <a:ext cx="1285884" cy="1071570"/>
          </a:xfrm>
          <a:prstGeom prst="ellipse">
            <a:avLst/>
          </a:prstGeom>
          <a:scene3d>
            <a:camera prst="orthographicFront"/>
            <a:lightRig rig="threePt" dir="t"/>
          </a:scene3d>
          <a:sp3d>
            <a:bevelT w="1143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Dim</a:t>
            </a:r>
          </a:p>
          <a:p>
            <a:pPr algn="ct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Table</a:t>
            </a:r>
            <a:endParaRPr lang="en-US" dirty="0">
              <a:ln>
                <a:solidFill>
                  <a:sysClr val="windowText" lastClr="000000"/>
                </a:solidFill>
              </a:ln>
            </a:endParaRPr>
          </a:p>
        </p:txBody>
      </p:sp>
      <p:cxnSp>
        <p:nvCxnSpPr>
          <p:cNvPr id="18" name="Straight Arrow Connector 17"/>
          <p:cNvCxnSpPr/>
          <p:nvPr/>
        </p:nvCxnSpPr>
        <p:spPr>
          <a:xfrm rot="10800000">
            <a:off x="4929190" y="3929066"/>
            <a:ext cx="500066" cy="28575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a:off x="3357554" y="3071810"/>
            <a:ext cx="571504" cy="21431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Straight Arrow Connector 24"/>
          <p:cNvCxnSpPr/>
          <p:nvPr/>
        </p:nvCxnSpPr>
        <p:spPr>
          <a:xfrm flipV="1">
            <a:off x="3428992" y="3857628"/>
            <a:ext cx="428630" cy="4286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Straight Arrow Connector 34"/>
          <p:cNvCxnSpPr/>
          <p:nvPr/>
        </p:nvCxnSpPr>
        <p:spPr>
          <a:xfrm flipH="1">
            <a:off x="4929190" y="3143248"/>
            <a:ext cx="571504" cy="21431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6" name="Straight Arrow Connector 35"/>
          <p:cNvCxnSpPr/>
          <p:nvPr/>
        </p:nvCxnSpPr>
        <p:spPr>
          <a:xfrm rot="16200000" flipH="1">
            <a:off x="4214811" y="2714619"/>
            <a:ext cx="321470" cy="357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0" name="Rectangle 39"/>
          <p:cNvSpPr/>
          <p:nvPr/>
        </p:nvSpPr>
        <p:spPr>
          <a:xfrm>
            <a:off x="2857488" y="5786455"/>
            <a:ext cx="3214709" cy="461665"/>
          </a:xfrm>
          <a:prstGeom prst="rect">
            <a:avLst/>
          </a:prstGeom>
          <a:noFill/>
        </p:spPr>
        <p:txBody>
          <a:bodyPr wrap="square" lIns="91440" tIns="45720" rIns="91440" bIns="45720">
            <a:spAutoFit/>
          </a:bodyPr>
          <a:lstStyle/>
          <a:p>
            <a:pPr algn="ctr"/>
            <a:r>
              <a:rPr lang="en-US" sz="2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SATR SCHEMA</a:t>
            </a:r>
            <a:endPar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edge">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Bottom)">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lide(fromBottom)">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slide(fromBottom)">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slide(fromBottom)">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diamond(in)">
                                      <p:cBhvr>
                                        <p:cTn id="42" dur="2000"/>
                                        <p:tgtEl>
                                          <p:spTgt spid="35"/>
                                        </p:tgtEl>
                                      </p:cBhvr>
                                    </p:animEffect>
                                  </p:childTnLst>
                                </p:cTn>
                              </p:par>
                              <p:par>
                                <p:cTn id="43" presetID="8" presetClass="entr" presetSubtype="16"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diamond(in)">
                                      <p:cBhvr>
                                        <p:cTn id="45" dur="2000"/>
                                        <p:tgtEl>
                                          <p:spTgt spid="36"/>
                                        </p:tgtEl>
                                      </p:cBhvr>
                                    </p:animEffect>
                                  </p:childTnLst>
                                </p:cTn>
                              </p:par>
                              <p:par>
                                <p:cTn id="46" presetID="8" presetClass="entr" presetSubtype="16"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diamond(in)">
                                      <p:cBhvr>
                                        <p:cTn id="48" dur="2000"/>
                                        <p:tgtEl>
                                          <p:spTgt spid="23"/>
                                        </p:tgtEl>
                                      </p:cBhvr>
                                    </p:animEffect>
                                  </p:childTnLst>
                                </p:cTn>
                              </p:par>
                              <p:par>
                                <p:cTn id="49" presetID="8" presetClass="entr" presetSubtype="16"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diamond(in)">
                                      <p:cBhvr>
                                        <p:cTn id="51" dur="2000"/>
                                        <p:tgtEl>
                                          <p:spTgt spid="25"/>
                                        </p:tgtEl>
                                      </p:cBhvr>
                                    </p:animEffect>
                                  </p:childTnLst>
                                </p:cTn>
                              </p:par>
                              <p:par>
                                <p:cTn id="52" presetID="8" presetClass="entr" presetSubtype="16"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diamond(in)">
                                      <p:cBhvr>
                                        <p:cTn id="54"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28596" y="449324"/>
          <a:ext cx="2357454" cy="1765229"/>
        </p:xfrm>
        <a:graphic>
          <a:graphicData uri="http://schemas.openxmlformats.org/drawingml/2006/table">
            <a:tbl>
              <a:tblPr firstRow="1" bandRow="1">
                <a:tableStyleId>{5C22544A-7EE6-4342-B048-85BDC9FD1C3A}</a:tableStyleId>
              </a:tblPr>
              <a:tblGrid>
                <a:gridCol w="2357454"/>
              </a:tblGrid>
              <a:tr h="570782">
                <a:tc>
                  <a:txBody>
                    <a:bodyPr/>
                    <a:lstStyle/>
                    <a:p>
                      <a:r>
                        <a:rPr lang="en-IN" dirty="0" smtClean="0"/>
                        <a:t>Dim _Car</a:t>
                      </a:r>
                      <a:r>
                        <a:rPr lang="en-IN" baseline="0" dirty="0" smtClean="0"/>
                        <a:t> </a:t>
                      </a:r>
                      <a:r>
                        <a:rPr lang="en-IN" dirty="0" smtClean="0"/>
                        <a:t>Product</a:t>
                      </a:r>
                      <a:endParaRPr lang="en-US" dirty="0"/>
                    </a:p>
                  </a:txBody>
                  <a:tcPr/>
                </a:tc>
              </a:tr>
              <a:tr h="398149">
                <a:tc>
                  <a:txBody>
                    <a:bodyPr/>
                    <a:lstStyle/>
                    <a:p>
                      <a:r>
                        <a:rPr lang="en-IN" dirty="0" smtClean="0"/>
                        <a:t>Product</a:t>
                      </a:r>
                      <a:r>
                        <a:rPr lang="en-IN" baseline="0" dirty="0" smtClean="0"/>
                        <a:t> </a:t>
                      </a:r>
                      <a:r>
                        <a:rPr lang="en-IN" dirty="0" smtClean="0"/>
                        <a:t>ID</a:t>
                      </a:r>
                      <a:endParaRPr lang="en-US" dirty="0"/>
                    </a:p>
                  </a:txBody>
                  <a:tcPr/>
                </a:tc>
              </a:tr>
              <a:tr h="398149">
                <a:tc>
                  <a:txBody>
                    <a:bodyPr/>
                    <a:lstStyle/>
                    <a:p>
                      <a:r>
                        <a:rPr lang="en-IN" dirty="0" smtClean="0"/>
                        <a:t>Product</a:t>
                      </a:r>
                      <a:r>
                        <a:rPr lang="en-IN" baseline="0" dirty="0" smtClean="0"/>
                        <a:t> </a:t>
                      </a:r>
                      <a:r>
                        <a:rPr lang="en-IN" dirty="0" smtClean="0"/>
                        <a:t>Colour</a:t>
                      </a:r>
                    </a:p>
                  </a:txBody>
                  <a:tcPr/>
                </a:tc>
              </a:tr>
              <a:tr h="398149">
                <a:tc>
                  <a:txBody>
                    <a:bodyPr/>
                    <a:lstStyle/>
                    <a:p>
                      <a:r>
                        <a:rPr lang="en-IN" dirty="0" smtClean="0"/>
                        <a:t>Product</a:t>
                      </a:r>
                      <a:r>
                        <a:rPr lang="en-IN" baseline="0" dirty="0" smtClean="0"/>
                        <a:t> </a:t>
                      </a:r>
                      <a:r>
                        <a:rPr lang="en-IN" dirty="0" smtClean="0"/>
                        <a:t>type</a:t>
                      </a:r>
                      <a:endParaRPr lang="en-US" dirty="0"/>
                    </a:p>
                  </a:txBody>
                  <a:tcPr/>
                </a:tc>
              </a:tr>
            </a:tbl>
          </a:graphicData>
        </a:graphic>
      </p:graphicFrame>
      <p:graphicFrame>
        <p:nvGraphicFramePr>
          <p:cNvPr id="6" name="Table 5"/>
          <p:cNvGraphicFramePr>
            <a:graphicFrameLocks noGrp="1"/>
          </p:cNvGraphicFramePr>
          <p:nvPr/>
        </p:nvGraphicFramePr>
        <p:xfrm>
          <a:off x="6286512" y="357166"/>
          <a:ext cx="2500330" cy="2103120"/>
        </p:xfrm>
        <a:graphic>
          <a:graphicData uri="http://schemas.openxmlformats.org/drawingml/2006/table">
            <a:tbl>
              <a:tblPr firstRow="1" bandRow="1">
                <a:tableStyleId>{5C22544A-7EE6-4342-B048-85BDC9FD1C3A}</a:tableStyleId>
              </a:tblPr>
              <a:tblGrid>
                <a:gridCol w="2500330"/>
              </a:tblGrid>
              <a:tr h="338280">
                <a:tc>
                  <a:txBody>
                    <a:bodyPr/>
                    <a:lstStyle/>
                    <a:p>
                      <a:r>
                        <a:rPr lang="en-IN" dirty="0" smtClean="0"/>
                        <a:t>Dim _Customer</a:t>
                      </a:r>
                      <a:endParaRPr lang="en-US" dirty="0"/>
                    </a:p>
                  </a:txBody>
                  <a:tcPr/>
                </a:tc>
              </a:tr>
              <a:tr h="338280">
                <a:tc>
                  <a:txBody>
                    <a:bodyPr/>
                    <a:lstStyle/>
                    <a:p>
                      <a:r>
                        <a:rPr lang="en-IN" dirty="0" smtClean="0"/>
                        <a:t>Customer</a:t>
                      </a:r>
                      <a:r>
                        <a:rPr lang="en-IN" baseline="0" dirty="0" smtClean="0"/>
                        <a:t> </a:t>
                      </a:r>
                      <a:r>
                        <a:rPr lang="en-IN" dirty="0" smtClean="0"/>
                        <a:t>ID</a:t>
                      </a:r>
                      <a:endParaRPr lang="en-US" dirty="0"/>
                    </a:p>
                  </a:txBody>
                  <a:tcPr/>
                </a:tc>
              </a:tr>
              <a:tr h="338280">
                <a:tc>
                  <a:txBody>
                    <a:bodyPr/>
                    <a:lstStyle/>
                    <a:p>
                      <a:r>
                        <a:rPr lang="en-IN" smtClean="0"/>
                        <a:t>Customer</a:t>
                      </a:r>
                      <a:r>
                        <a:rPr lang="en-IN" baseline="0" smtClean="0"/>
                        <a:t>  </a:t>
                      </a:r>
                      <a:r>
                        <a:rPr lang="en-IN" baseline="0" smtClean="0"/>
                        <a:t>Address</a:t>
                      </a:r>
                      <a:endParaRPr lang="en-IN" dirty="0" smtClean="0"/>
                    </a:p>
                  </a:txBody>
                  <a:tcPr/>
                </a:tc>
              </a:tr>
              <a:tr h="338280">
                <a:tc>
                  <a:txBody>
                    <a:bodyPr/>
                    <a:lstStyle/>
                    <a:p>
                      <a:r>
                        <a:rPr lang="en-IN" dirty="0" smtClean="0"/>
                        <a:t>Customer</a:t>
                      </a:r>
                      <a:r>
                        <a:rPr lang="en-IN" baseline="0" dirty="0" smtClean="0"/>
                        <a:t>  Name</a:t>
                      </a:r>
                      <a:endParaRPr lang="en-US" dirty="0"/>
                    </a:p>
                  </a:txBody>
                  <a:tcPr/>
                </a:tc>
              </a:tr>
              <a:tr h="504268">
                <a:tc>
                  <a:txBody>
                    <a:bodyPr/>
                    <a:lstStyle/>
                    <a:p>
                      <a:r>
                        <a:rPr lang="en-IN" dirty="0" smtClean="0"/>
                        <a:t>Customer  phone    </a:t>
                      </a:r>
                      <a:r>
                        <a:rPr lang="en-IN" baseline="0" dirty="0" smtClean="0"/>
                        <a:t>   </a:t>
                      </a:r>
                      <a:r>
                        <a:rPr lang="en-IN" dirty="0" smtClean="0"/>
                        <a:t>number</a:t>
                      </a:r>
                      <a:endParaRPr lang="en-US" dirty="0"/>
                    </a:p>
                  </a:txBody>
                  <a:tcPr/>
                </a:tc>
              </a:tr>
            </a:tbl>
          </a:graphicData>
        </a:graphic>
      </p:graphicFrame>
      <p:graphicFrame>
        <p:nvGraphicFramePr>
          <p:cNvPr id="8" name="Table 7"/>
          <p:cNvGraphicFramePr>
            <a:graphicFrameLocks noGrp="1"/>
          </p:cNvGraphicFramePr>
          <p:nvPr/>
        </p:nvGraphicFramePr>
        <p:xfrm>
          <a:off x="6143636" y="4500570"/>
          <a:ext cx="2714644" cy="2000265"/>
        </p:xfrm>
        <a:graphic>
          <a:graphicData uri="http://schemas.openxmlformats.org/drawingml/2006/table">
            <a:tbl>
              <a:tblPr firstRow="1" bandRow="1">
                <a:tableStyleId>{5C22544A-7EE6-4342-B048-85BDC9FD1C3A}</a:tableStyleId>
              </a:tblPr>
              <a:tblGrid>
                <a:gridCol w="2714644"/>
              </a:tblGrid>
              <a:tr h="387940">
                <a:tc>
                  <a:txBody>
                    <a:bodyPr/>
                    <a:lstStyle/>
                    <a:p>
                      <a:r>
                        <a:rPr lang="en-IN" dirty="0" smtClean="0"/>
                        <a:t>Dim _Date</a:t>
                      </a:r>
                      <a:r>
                        <a:rPr lang="en-IN" baseline="0" dirty="0" smtClean="0"/>
                        <a:t> </a:t>
                      </a:r>
                      <a:endParaRPr lang="en-US" dirty="0"/>
                    </a:p>
                  </a:txBody>
                  <a:tcPr/>
                </a:tc>
              </a:tr>
              <a:tr h="387940">
                <a:tc>
                  <a:txBody>
                    <a:bodyPr/>
                    <a:lstStyle/>
                    <a:p>
                      <a:r>
                        <a:rPr lang="en-IN" baseline="0" dirty="0" smtClean="0"/>
                        <a:t>Purchase  </a:t>
                      </a:r>
                      <a:r>
                        <a:rPr lang="en-IN" dirty="0" smtClean="0"/>
                        <a:t>Date</a:t>
                      </a:r>
                      <a:endParaRPr lang="en-US" dirty="0"/>
                    </a:p>
                  </a:txBody>
                  <a:tcPr/>
                </a:tc>
              </a:tr>
              <a:tr h="387940">
                <a:tc>
                  <a:txBody>
                    <a:bodyPr/>
                    <a:lstStyle/>
                    <a:p>
                      <a:r>
                        <a:rPr lang="en-IN" baseline="0" dirty="0" smtClean="0"/>
                        <a:t>Purchase  Address/Store</a:t>
                      </a:r>
                      <a:endParaRPr lang="en-IN" dirty="0" smtClean="0"/>
                    </a:p>
                  </a:txBody>
                  <a:tcPr/>
                </a:tc>
              </a:tr>
              <a:tr h="387940">
                <a:tc>
                  <a:txBody>
                    <a:bodyPr/>
                    <a:lstStyle/>
                    <a:p>
                      <a:r>
                        <a:rPr lang="en-IN" baseline="0" dirty="0" smtClean="0"/>
                        <a:t>Purchase Month</a:t>
                      </a:r>
                      <a:endParaRPr lang="en-US" dirty="0"/>
                    </a:p>
                  </a:txBody>
                  <a:tcPr/>
                </a:tc>
              </a:tr>
              <a:tr h="448505">
                <a:tc>
                  <a:txBody>
                    <a:bodyPr/>
                    <a:lstStyle/>
                    <a:p>
                      <a:r>
                        <a:rPr lang="en-IN" baseline="0" dirty="0" smtClean="0"/>
                        <a:t>Purchase Year</a:t>
                      </a:r>
                      <a:endParaRPr lang="en-US" dirty="0"/>
                    </a:p>
                  </a:txBody>
                  <a:tcPr/>
                </a:tc>
              </a:tr>
            </a:tbl>
          </a:graphicData>
        </a:graphic>
      </p:graphicFrame>
      <p:graphicFrame>
        <p:nvGraphicFramePr>
          <p:cNvPr id="9" name="Table 8"/>
          <p:cNvGraphicFramePr>
            <a:graphicFrameLocks noGrp="1"/>
          </p:cNvGraphicFramePr>
          <p:nvPr/>
        </p:nvGraphicFramePr>
        <p:xfrm>
          <a:off x="428596" y="4626227"/>
          <a:ext cx="2214578" cy="1874608"/>
        </p:xfrm>
        <a:graphic>
          <a:graphicData uri="http://schemas.openxmlformats.org/drawingml/2006/table">
            <a:tbl>
              <a:tblPr firstRow="1" bandRow="1">
                <a:tableStyleId>{5C22544A-7EE6-4342-B048-85BDC9FD1C3A}</a:tableStyleId>
              </a:tblPr>
              <a:tblGrid>
                <a:gridCol w="2214578"/>
              </a:tblGrid>
              <a:tr h="361455">
                <a:tc>
                  <a:txBody>
                    <a:bodyPr/>
                    <a:lstStyle/>
                    <a:p>
                      <a:r>
                        <a:rPr lang="en-IN" dirty="0" smtClean="0"/>
                        <a:t>Dim _Store</a:t>
                      </a:r>
                      <a:r>
                        <a:rPr lang="en-IN" baseline="0" dirty="0" smtClean="0"/>
                        <a:t> </a:t>
                      </a:r>
                      <a:endParaRPr lang="en-US" dirty="0"/>
                    </a:p>
                  </a:txBody>
                  <a:tcPr/>
                </a:tc>
              </a:tr>
              <a:tr h="361455">
                <a:tc>
                  <a:txBody>
                    <a:bodyPr/>
                    <a:lstStyle/>
                    <a:p>
                      <a:r>
                        <a:rPr lang="en-IN" dirty="0" smtClean="0"/>
                        <a:t>Store ID</a:t>
                      </a:r>
                      <a:endParaRPr lang="en-US" dirty="0"/>
                    </a:p>
                  </a:txBody>
                  <a:tcPr/>
                </a:tc>
              </a:tr>
              <a:tr h="361455">
                <a:tc>
                  <a:txBody>
                    <a:bodyPr/>
                    <a:lstStyle/>
                    <a:p>
                      <a:r>
                        <a:rPr lang="en-IN" dirty="0" smtClean="0"/>
                        <a:t>Store </a:t>
                      </a:r>
                      <a:r>
                        <a:rPr lang="en-IN" baseline="0" dirty="0" smtClean="0"/>
                        <a:t> A</a:t>
                      </a:r>
                      <a:r>
                        <a:rPr lang="en-IN" dirty="0" smtClean="0"/>
                        <a:t>ddress</a:t>
                      </a:r>
                    </a:p>
                  </a:txBody>
                  <a:tcPr/>
                </a:tc>
              </a:tr>
              <a:tr h="361455">
                <a:tc>
                  <a:txBody>
                    <a:bodyPr/>
                    <a:lstStyle/>
                    <a:p>
                      <a:r>
                        <a:rPr lang="en-IN" dirty="0" smtClean="0"/>
                        <a:t>Store City</a:t>
                      </a:r>
                      <a:endParaRPr lang="en-US" dirty="0"/>
                    </a:p>
                  </a:txBody>
                  <a:tcPr/>
                </a:tc>
              </a:tr>
              <a:tr h="411568">
                <a:tc>
                  <a:txBody>
                    <a:bodyPr/>
                    <a:lstStyle/>
                    <a:p>
                      <a:r>
                        <a:rPr lang="en-IN" dirty="0" smtClean="0"/>
                        <a:t>Store Country</a:t>
                      </a:r>
                      <a:endParaRPr lang="en-US" dirty="0"/>
                    </a:p>
                  </a:txBody>
                  <a:tcPr/>
                </a:tc>
              </a:tr>
            </a:tbl>
          </a:graphicData>
        </a:graphic>
      </p:graphicFrame>
      <p:graphicFrame>
        <p:nvGraphicFramePr>
          <p:cNvPr id="10" name="Table 9"/>
          <p:cNvGraphicFramePr>
            <a:graphicFrameLocks noGrp="1"/>
          </p:cNvGraphicFramePr>
          <p:nvPr/>
        </p:nvGraphicFramePr>
        <p:xfrm>
          <a:off x="3357554" y="2143116"/>
          <a:ext cx="2428892" cy="2582780"/>
        </p:xfrm>
        <a:graphic>
          <a:graphicData uri="http://schemas.openxmlformats.org/drawingml/2006/table">
            <a:tbl>
              <a:tblPr firstRow="1" bandRow="1">
                <a:tableStyleId>{5C22544A-7EE6-4342-B048-85BDC9FD1C3A}</a:tableStyleId>
              </a:tblPr>
              <a:tblGrid>
                <a:gridCol w="2428892"/>
              </a:tblGrid>
              <a:tr h="3882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Fact  Car  Sales</a:t>
                      </a:r>
                      <a:endParaRPr lang="en-US" dirty="0"/>
                    </a:p>
                  </a:txBody>
                  <a:tcPr/>
                </a:tc>
              </a:tr>
              <a:tr h="327733">
                <a:tc>
                  <a:txBody>
                    <a:bodyPr/>
                    <a:lstStyle/>
                    <a:p>
                      <a:r>
                        <a:rPr lang="en-IN" dirty="0" smtClean="0"/>
                        <a:t>Order ID</a:t>
                      </a:r>
                      <a:endParaRPr lang="en-US" dirty="0"/>
                    </a:p>
                  </a:txBody>
                  <a:tcPr/>
                </a:tc>
              </a:tr>
              <a:tr h="327733">
                <a:tc>
                  <a:txBody>
                    <a:bodyPr/>
                    <a:lstStyle/>
                    <a:p>
                      <a:r>
                        <a:rPr lang="en-IN" dirty="0" smtClean="0"/>
                        <a:t>Customer</a:t>
                      </a:r>
                      <a:r>
                        <a:rPr lang="en-IN" baseline="0" dirty="0" smtClean="0"/>
                        <a:t>  </a:t>
                      </a:r>
                      <a:r>
                        <a:rPr lang="en-IN" dirty="0" smtClean="0"/>
                        <a:t>ID</a:t>
                      </a:r>
                      <a:endParaRPr lang="en-US" dirty="0"/>
                    </a:p>
                  </a:txBody>
                  <a:tcPr/>
                </a:tc>
              </a:tr>
              <a:tr h="327733">
                <a:tc>
                  <a:txBody>
                    <a:bodyPr/>
                    <a:lstStyle/>
                    <a:p>
                      <a:r>
                        <a:rPr lang="en-IN" dirty="0" smtClean="0"/>
                        <a:t>Product</a:t>
                      </a:r>
                      <a:r>
                        <a:rPr lang="en-IN" baseline="0" dirty="0" smtClean="0"/>
                        <a:t> </a:t>
                      </a:r>
                      <a:r>
                        <a:rPr lang="en-IN" dirty="0" smtClean="0"/>
                        <a:t>ID</a:t>
                      </a:r>
                      <a:endParaRPr lang="en-US" dirty="0"/>
                    </a:p>
                  </a:txBody>
                  <a:tcPr/>
                </a:tc>
              </a:tr>
              <a:tr h="327733">
                <a:tc>
                  <a:txBody>
                    <a:bodyPr/>
                    <a:lstStyle/>
                    <a:p>
                      <a:r>
                        <a:rPr lang="en-IN" baseline="0" dirty="0" smtClean="0"/>
                        <a:t>Purchase  </a:t>
                      </a:r>
                      <a:r>
                        <a:rPr lang="en-IN" dirty="0" smtClean="0"/>
                        <a:t>Date</a:t>
                      </a:r>
                      <a:endParaRPr lang="en-US" dirty="0"/>
                    </a:p>
                  </a:txBody>
                  <a:tcPr/>
                </a:tc>
              </a:tr>
              <a:tr h="324836">
                <a:tc>
                  <a:txBody>
                    <a:bodyPr/>
                    <a:lstStyle/>
                    <a:p>
                      <a:r>
                        <a:rPr lang="en-IN" dirty="0" smtClean="0"/>
                        <a:t>Store ID</a:t>
                      </a:r>
                      <a:endParaRPr lang="en-US" dirty="0"/>
                    </a:p>
                  </a:txBody>
                  <a:tcPr/>
                </a:tc>
              </a:tr>
              <a:tr h="279169">
                <a:tc>
                  <a:txBody>
                    <a:bodyPr/>
                    <a:lstStyle/>
                    <a:p>
                      <a:r>
                        <a:rPr lang="en-IN" dirty="0" smtClean="0"/>
                        <a:t>Purchase Amount</a:t>
                      </a:r>
                      <a:endParaRPr lang="en-US" dirty="0"/>
                    </a:p>
                  </a:txBody>
                  <a:tcPr/>
                </a:tc>
              </a:tr>
            </a:tbl>
          </a:graphicData>
        </a:graphic>
      </p:graphicFrame>
      <p:sp>
        <p:nvSpPr>
          <p:cNvPr id="16" name="Bent Arrow 15"/>
          <p:cNvSpPr/>
          <p:nvPr/>
        </p:nvSpPr>
        <p:spPr>
          <a:xfrm rot="10800000" flipH="1">
            <a:off x="1857356" y="2285992"/>
            <a:ext cx="1428760" cy="1000132"/>
          </a:xfrm>
          <a:prstGeom prst="bentArrow">
            <a:avLst>
              <a:gd name="adj1" fmla="val 11286"/>
              <a:gd name="adj2" fmla="val 17000"/>
              <a:gd name="adj3" fmla="val 1928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Bent Arrow 16"/>
          <p:cNvSpPr/>
          <p:nvPr/>
        </p:nvSpPr>
        <p:spPr>
          <a:xfrm rot="16200000" flipH="1">
            <a:off x="4857752" y="714356"/>
            <a:ext cx="1428760" cy="1285884"/>
          </a:xfrm>
          <a:prstGeom prst="bentArrow">
            <a:avLst>
              <a:gd name="adj1" fmla="val 11286"/>
              <a:gd name="adj2" fmla="val 17000"/>
              <a:gd name="adj3" fmla="val 1928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Bent Arrow 18"/>
          <p:cNvSpPr/>
          <p:nvPr/>
        </p:nvSpPr>
        <p:spPr>
          <a:xfrm rot="16200000" flipV="1">
            <a:off x="2643174" y="4929198"/>
            <a:ext cx="1428760" cy="1285884"/>
          </a:xfrm>
          <a:prstGeom prst="bentArrow">
            <a:avLst>
              <a:gd name="adj1" fmla="val 11286"/>
              <a:gd name="adj2" fmla="val 17000"/>
              <a:gd name="adj3" fmla="val 1928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Bent Arrow 19"/>
          <p:cNvSpPr/>
          <p:nvPr/>
        </p:nvSpPr>
        <p:spPr>
          <a:xfrm rot="10800000" flipV="1">
            <a:off x="5857884" y="3357562"/>
            <a:ext cx="1428760" cy="1071570"/>
          </a:xfrm>
          <a:prstGeom prst="bentArrow">
            <a:avLst>
              <a:gd name="adj1" fmla="val 11286"/>
              <a:gd name="adj2" fmla="val 17000"/>
              <a:gd name="adj3" fmla="val 19286"/>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ransition spd="slow">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80">
                                          <p:stCondLst>
                                            <p:cond delay="0"/>
                                          </p:stCondLst>
                                        </p:cTn>
                                        <p:tgtEl>
                                          <p:spTgt spid="8"/>
                                        </p:tgtEl>
                                      </p:cBhvr>
                                    </p:animEffect>
                                    <p:anim calcmode="lin" valueType="num">
                                      <p:cBhvr>
                                        <p:cTn id="4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9" dur="26">
                                          <p:stCondLst>
                                            <p:cond delay="650"/>
                                          </p:stCondLst>
                                        </p:cTn>
                                        <p:tgtEl>
                                          <p:spTgt spid="8"/>
                                        </p:tgtEl>
                                      </p:cBhvr>
                                      <p:to x="100000" y="60000"/>
                                    </p:animScale>
                                    <p:animScale>
                                      <p:cBhvr>
                                        <p:cTn id="50" dur="166" decel="50000">
                                          <p:stCondLst>
                                            <p:cond delay="676"/>
                                          </p:stCondLst>
                                        </p:cTn>
                                        <p:tgtEl>
                                          <p:spTgt spid="8"/>
                                        </p:tgtEl>
                                      </p:cBhvr>
                                      <p:to x="100000" y="100000"/>
                                    </p:animScale>
                                    <p:animScale>
                                      <p:cBhvr>
                                        <p:cTn id="51" dur="26">
                                          <p:stCondLst>
                                            <p:cond delay="1312"/>
                                          </p:stCondLst>
                                        </p:cTn>
                                        <p:tgtEl>
                                          <p:spTgt spid="8"/>
                                        </p:tgtEl>
                                      </p:cBhvr>
                                      <p:to x="100000" y="80000"/>
                                    </p:animScale>
                                    <p:animScale>
                                      <p:cBhvr>
                                        <p:cTn id="52" dur="166" decel="50000">
                                          <p:stCondLst>
                                            <p:cond delay="1338"/>
                                          </p:stCondLst>
                                        </p:cTn>
                                        <p:tgtEl>
                                          <p:spTgt spid="8"/>
                                        </p:tgtEl>
                                      </p:cBhvr>
                                      <p:to x="100000" y="100000"/>
                                    </p:animScale>
                                    <p:animScale>
                                      <p:cBhvr>
                                        <p:cTn id="53" dur="26">
                                          <p:stCondLst>
                                            <p:cond delay="1642"/>
                                          </p:stCondLst>
                                        </p:cTn>
                                        <p:tgtEl>
                                          <p:spTgt spid="8"/>
                                        </p:tgtEl>
                                      </p:cBhvr>
                                      <p:to x="100000" y="90000"/>
                                    </p:animScale>
                                    <p:animScale>
                                      <p:cBhvr>
                                        <p:cTn id="54" dur="166" decel="50000">
                                          <p:stCondLst>
                                            <p:cond delay="1668"/>
                                          </p:stCondLst>
                                        </p:cTn>
                                        <p:tgtEl>
                                          <p:spTgt spid="8"/>
                                        </p:tgtEl>
                                      </p:cBhvr>
                                      <p:to x="100000" y="100000"/>
                                    </p:animScale>
                                    <p:animScale>
                                      <p:cBhvr>
                                        <p:cTn id="55" dur="26">
                                          <p:stCondLst>
                                            <p:cond delay="1808"/>
                                          </p:stCondLst>
                                        </p:cTn>
                                        <p:tgtEl>
                                          <p:spTgt spid="8"/>
                                        </p:tgtEl>
                                      </p:cBhvr>
                                      <p:to x="100000" y="95000"/>
                                    </p:animScale>
                                    <p:animScale>
                                      <p:cBhvr>
                                        <p:cTn id="56" dur="166" decel="50000">
                                          <p:stCondLst>
                                            <p:cond delay="1834"/>
                                          </p:stCondLst>
                                        </p:cTn>
                                        <p:tgtEl>
                                          <p:spTgt spid="8"/>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gtEl>
                                      </p:cBhvr>
                                      <p:to x="100000" y="60000"/>
                                    </p:animScale>
                                    <p:animScale>
                                      <p:cBhvr>
                                        <p:cTn id="68" dur="166" decel="50000">
                                          <p:stCondLst>
                                            <p:cond delay="676"/>
                                          </p:stCondLst>
                                        </p:cTn>
                                        <p:tgtEl>
                                          <p:spTgt spid="9"/>
                                        </p:tgtEl>
                                      </p:cBhvr>
                                      <p:to x="100000" y="100000"/>
                                    </p:animScale>
                                    <p:animScale>
                                      <p:cBhvr>
                                        <p:cTn id="69" dur="26">
                                          <p:stCondLst>
                                            <p:cond delay="1312"/>
                                          </p:stCondLst>
                                        </p:cTn>
                                        <p:tgtEl>
                                          <p:spTgt spid="9"/>
                                        </p:tgtEl>
                                      </p:cBhvr>
                                      <p:to x="100000" y="80000"/>
                                    </p:animScale>
                                    <p:animScale>
                                      <p:cBhvr>
                                        <p:cTn id="70" dur="166" decel="50000">
                                          <p:stCondLst>
                                            <p:cond delay="1338"/>
                                          </p:stCondLst>
                                        </p:cTn>
                                        <p:tgtEl>
                                          <p:spTgt spid="9"/>
                                        </p:tgtEl>
                                      </p:cBhvr>
                                      <p:to x="100000" y="100000"/>
                                    </p:animScale>
                                    <p:animScale>
                                      <p:cBhvr>
                                        <p:cTn id="71" dur="26">
                                          <p:stCondLst>
                                            <p:cond delay="1642"/>
                                          </p:stCondLst>
                                        </p:cTn>
                                        <p:tgtEl>
                                          <p:spTgt spid="9"/>
                                        </p:tgtEl>
                                      </p:cBhvr>
                                      <p:to x="100000" y="90000"/>
                                    </p:animScale>
                                    <p:animScale>
                                      <p:cBhvr>
                                        <p:cTn id="72" dur="166" decel="50000">
                                          <p:stCondLst>
                                            <p:cond delay="1668"/>
                                          </p:stCondLst>
                                        </p:cTn>
                                        <p:tgtEl>
                                          <p:spTgt spid="9"/>
                                        </p:tgtEl>
                                      </p:cBhvr>
                                      <p:to x="100000" y="100000"/>
                                    </p:animScale>
                                    <p:animScale>
                                      <p:cBhvr>
                                        <p:cTn id="73" dur="26">
                                          <p:stCondLst>
                                            <p:cond delay="1808"/>
                                          </p:stCondLst>
                                        </p:cTn>
                                        <p:tgtEl>
                                          <p:spTgt spid="9"/>
                                        </p:tgtEl>
                                      </p:cBhvr>
                                      <p:to x="100000" y="95000"/>
                                    </p:animScale>
                                    <p:animScale>
                                      <p:cBhvr>
                                        <p:cTn id="74" dur="166" decel="50000">
                                          <p:stCondLst>
                                            <p:cond delay="1834"/>
                                          </p:stCondLst>
                                        </p:cTn>
                                        <p:tgtEl>
                                          <p:spTgt spid="9"/>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0"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edge">
                                      <p:cBhvr>
                                        <p:cTn id="79" dur="2000"/>
                                        <p:tgtEl>
                                          <p:spTgt spid="16"/>
                                        </p:tgtEl>
                                      </p:cBhvr>
                                    </p:animEffect>
                                  </p:childTnLst>
                                </p:cTn>
                              </p:par>
                              <p:par>
                                <p:cTn id="80" presetID="20"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edge">
                                      <p:cBhvr>
                                        <p:cTn id="82" dur="2000"/>
                                        <p:tgtEl>
                                          <p:spTgt spid="17"/>
                                        </p:tgtEl>
                                      </p:cBhvr>
                                    </p:animEffect>
                                  </p:childTnLst>
                                </p:cTn>
                              </p:par>
                              <p:par>
                                <p:cTn id="83" presetID="2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wedge">
                                      <p:cBhvr>
                                        <p:cTn id="85" dur="2000"/>
                                        <p:tgtEl>
                                          <p:spTgt spid="20"/>
                                        </p:tgtEl>
                                      </p:cBhvr>
                                    </p:animEffect>
                                  </p:childTnLst>
                                </p:cTn>
                              </p:par>
                              <p:par>
                                <p:cTn id="86" presetID="20"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edge">
                                      <p:cBhvr>
                                        <p:cTn id="88" dur="20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8" presetClass="entr" presetSubtype="16" fill="hold"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diamond(in)">
                                      <p:cBhvr>
                                        <p:cTn id="93"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1472" y="428604"/>
            <a:ext cx="7858180" cy="769441"/>
          </a:xfrm>
          <a:prstGeom prst="rect">
            <a:avLst/>
          </a:prstGeom>
          <a:noFill/>
        </p:spPr>
        <p:txBody>
          <a:bodyPr wrap="square" lIns="91440" tIns="45720" rIns="91440" bIns="45720">
            <a:spAutoFit/>
          </a:bodyPr>
          <a:lstStyle/>
          <a:p>
            <a:pPr algn="ctr"/>
            <a:r>
              <a:rPr lang="en-US" sz="4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Uses of star schema </a:t>
            </a:r>
            <a:endParaRPr lang="en-US" sz="44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
        <p:nvSpPr>
          <p:cNvPr id="7" name="Content Placeholder 1"/>
          <p:cNvSpPr txBox="1">
            <a:spLocks/>
          </p:cNvSpPr>
          <p:nvPr/>
        </p:nvSpPr>
        <p:spPr>
          <a:xfrm>
            <a:off x="857224" y="1428736"/>
            <a:ext cx="8286776" cy="3357586"/>
          </a:xfrm>
          <a:prstGeom prst="rect">
            <a:avLst/>
          </a:prstGeom>
        </p:spPr>
        <p:txBody>
          <a:bodyPr vert="horz">
            <a:normAutofit/>
          </a:bodyPr>
          <a:lstStyle/>
          <a:p>
            <a:pPr marL="274320" indent="-274320">
              <a:spcBef>
                <a:spcPts val="600"/>
              </a:spcBef>
              <a:buClr>
                <a:schemeClr val="accent2"/>
              </a:buClr>
              <a:buSzPct val="85000"/>
              <a:buFont typeface="Wingdings 2"/>
              <a:buChar char=""/>
              <a:defRPr/>
            </a:pPr>
            <a:r>
              <a:rPr lang="en-US" sz="2400" b="1" dirty="0" smtClean="0"/>
              <a:t>It is extremely simple to understand and build</a:t>
            </a:r>
          </a:p>
          <a:p>
            <a:pPr marL="274320" indent="-274320">
              <a:spcBef>
                <a:spcPts val="600"/>
              </a:spcBef>
              <a:buClr>
                <a:schemeClr val="accent2"/>
              </a:buClr>
              <a:buSzPct val="85000"/>
              <a:buFont typeface="Wingdings 2"/>
              <a:buChar char=""/>
              <a:defRPr/>
            </a:pPr>
            <a:endParaRPr lang="en-US" sz="2400" b="1" dirty="0" smtClean="0"/>
          </a:p>
          <a:p>
            <a:pPr marL="274320" indent="-274320">
              <a:spcBef>
                <a:spcPts val="600"/>
              </a:spcBef>
              <a:buClr>
                <a:schemeClr val="accent2"/>
              </a:buClr>
              <a:buSzPct val="85000"/>
              <a:buFont typeface="Wingdings 2"/>
              <a:buChar char=""/>
              <a:defRPr/>
            </a:pPr>
            <a:r>
              <a:rPr lang="en-US" sz="2400" b="1" dirty="0" smtClean="0"/>
              <a:t>Star schema can offer an increase in performance for reporting applications.</a:t>
            </a:r>
          </a:p>
          <a:p>
            <a:pPr marL="274320" indent="-274320">
              <a:spcBef>
                <a:spcPts val="600"/>
              </a:spcBef>
              <a:buClr>
                <a:schemeClr val="accent2"/>
              </a:buClr>
              <a:buSzPct val="85000"/>
              <a:buFont typeface="Wingdings 2"/>
              <a:buChar char=""/>
              <a:defRPr/>
            </a:pPr>
            <a:endParaRPr lang="en-US" sz="2400" b="1" dirty="0" smtClean="0"/>
          </a:p>
          <a:p>
            <a:pPr marL="274320" indent="-274320">
              <a:spcBef>
                <a:spcPts val="600"/>
              </a:spcBef>
              <a:buClr>
                <a:schemeClr val="accent2"/>
              </a:buClr>
              <a:buSzPct val="85000"/>
              <a:buFont typeface="Wingdings 2"/>
              <a:buChar char=""/>
              <a:defRPr/>
            </a:pPr>
            <a:r>
              <a:rPr lang="en-US" sz="2400" b="1" dirty="0" smtClean="0"/>
              <a:t>A star schema is a multi-dimensional data model used to organize data in a database so that it is easy to understand and analyze.</a:t>
            </a:r>
          </a:p>
          <a:p>
            <a:pPr marL="274320" indent="-274320">
              <a:spcBef>
                <a:spcPts val="600"/>
              </a:spcBef>
              <a:buClr>
                <a:schemeClr val="accent2"/>
              </a:buClr>
              <a:buSzPct val="85000"/>
              <a:buFont typeface="Wingdings 2"/>
              <a:buChar char=""/>
              <a:defRPr/>
            </a:pPr>
            <a:endParaRPr lang="en-US" sz="2400" b="1" dirty="0" smtClean="0"/>
          </a:p>
          <a:p>
            <a:pPr marL="274320" indent="-274320">
              <a:spcBef>
                <a:spcPts val="600"/>
              </a:spcBef>
              <a:buClr>
                <a:schemeClr val="accent2"/>
              </a:buClr>
              <a:buSzPct val="85000"/>
              <a:buFont typeface="Wingdings 2"/>
              <a:buChar char=""/>
              <a:defRPr/>
            </a:pPr>
            <a:endParaRPr lang="en-US" sz="2400" b="1" dirty="0" smtClean="0"/>
          </a:p>
          <a:p>
            <a:pPr marL="274320" indent="-274320">
              <a:spcBef>
                <a:spcPts val="600"/>
              </a:spcBef>
              <a:buClr>
                <a:schemeClr val="accent2"/>
              </a:buClr>
              <a:buSzPct val="85000"/>
              <a:buFont typeface="Wingdings 2"/>
              <a:buChar char=""/>
              <a:defRPr/>
            </a:pPr>
            <a:endParaRPr lang="en-US" sz="2400" b="1" dirty="0" smtClean="0"/>
          </a:p>
          <a:p>
            <a:pPr marL="274320" indent="-274320">
              <a:spcBef>
                <a:spcPts val="600"/>
              </a:spcBef>
              <a:buClr>
                <a:schemeClr val="accent2"/>
              </a:buClr>
              <a:buSzPct val="85000"/>
              <a:buFont typeface="Wingdings 2"/>
              <a:buChar char=""/>
              <a:defRPr/>
            </a:pPr>
            <a:endParaRPr lang="en-US" sz="2400" dirty="0" smtClean="0"/>
          </a:p>
          <a:p>
            <a:pPr marL="274320" marR="0" lvl="0" indent="-274320" algn="l" defTabSz="914400" rtl="0" eaLnBrk="1" fontAlgn="auto" latinLnBrk="0" hangingPunct="1">
              <a:lnSpc>
                <a:spcPct val="100000"/>
              </a:lnSpc>
              <a:spcBef>
                <a:spcPts val="600"/>
              </a:spcBef>
              <a:spcAft>
                <a:spcPts val="0"/>
              </a:spcAft>
              <a:buClr>
                <a:schemeClr val="accent2"/>
              </a:buClr>
              <a:buSzPct val="85000"/>
              <a:buFont typeface="Wingdings 2"/>
              <a:buChar char=""/>
              <a:tabLst/>
              <a:defRPr/>
            </a:pPr>
            <a:endParaRPr lang="en-IN" sz="2400" dirty="0" smtClean="0"/>
          </a:p>
          <a:p>
            <a:pPr marL="274320" marR="0" lvl="0" indent="-274320" algn="l" defTabSz="914400" rtl="0" eaLnBrk="1" fontAlgn="auto" latinLnBrk="0" hangingPunct="1">
              <a:lnSpc>
                <a:spcPct val="100000"/>
              </a:lnSpc>
              <a:spcBef>
                <a:spcPts val="600"/>
              </a:spcBef>
              <a:spcAft>
                <a:spcPts val="0"/>
              </a:spcAft>
              <a:buClr>
                <a:schemeClr val="accent2"/>
              </a:buClr>
              <a:buSzPct val="85000"/>
              <a:tabLst/>
              <a:defRPr/>
            </a:pPr>
            <a:endParaRPr lang="en-IN" sz="2400" dirty="0" smtClean="0"/>
          </a:p>
          <a:p>
            <a:pPr marL="274320" marR="0" lvl="0" indent="-274320" algn="l" defTabSz="914400" rtl="0" eaLnBrk="1" fontAlgn="auto" latinLnBrk="0" hangingPunct="1">
              <a:lnSpc>
                <a:spcPct val="100000"/>
              </a:lnSpc>
              <a:spcBef>
                <a:spcPts val="600"/>
              </a:spcBef>
              <a:spcAft>
                <a:spcPts val="0"/>
              </a:spcAft>
              <a:buClr>
                <a:schemeClr val="accent2"/>
              </a:buClr>
              <a:buSzPct val="85000"/>
              <a:buFont typeface="Wingdings 2"/>
              <a:buChar char=""/>
              <a:tabLst/>
              <a:defRPr/>
            </a:pPr>
            <a:endParaRPr lang="en-US" sz="2400" dirty="0" smtClean="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41" presetClass="entr" presetSubtype="0" fill="hold" grpId="0" nodeType="clickEffect">
                                  <p:stCondLst>
                                    <p:cond delay="0"/>
                                  </p:stCondLst>
                                  <p:iterate type="lt">
                                    <p:tmPct val="10000"/>
                                  </p:iterate>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7"/>
                                        </p:tgtEl>
                                        <p:attrNameLst>
                                          <p:attrName>ppt_y</p:attrName>
                                        </p:attrNameLst>
                                      </p:cBhvr>
                                      <p:tavLst>
                                        <p:tav tm="0">
                                          <p:val>
                                            <p:strVal val="#ppt_y"/>
                                          </p:val>
                                        </p:tav>
                                        <p:tav tm="100000">
                                          <p:val>
                                            <p:strVal val="#ppt_y"/>
                                          </p:val>
                                        </p:tav>
                                      </p:tavLst>
                                    </p:anim>
                                    <p:anim calcmode="lin" valueType="num">
                                      <p:cBhvr>
                                        <p:cTn id="18"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28794" y="2000240"/>
            <a:ext cx="5739921" cy="3046988"/>
          </a:xfrm>
          <a:prstGeom prst="rect">
            <a:avLst/>
          </a:prstGeom>
          <a:noFill/>
        </p:spPr>
        <p:txBody>
          <a:bodyPr wrap="square" lIns="91440" tIns="45720" rIns="91440" bIns="45720">
            <a:spAutoFit/>
          </a:bodyPr>
          <a:lstStyle/>
          <a:p>
            <a:pPr algn="ctr"/>
            <a:r>
              <a:rPr lang="en-US" sz="9600" dirty="0" smtClean="0">
                <a:ln w="10160">
                  <a:solidFill>
                    <a:schemeClr val="accent1"/>
                  </a:solidFill>
                  <a:prstDash val="solid"/>
                </a:ln>
                <a:solidFill>
                  <a:srgbClr val="FFFFFF"/>
                </a:solidFill>
                <a:effectLst>
                  <a:outerShdw blurRad="38100" dist="32000" dir="5400000" algn="tl">
                    <a:srgbClr val="000000">
                      <a:alpha val="30000"/>
                    </a:srgbClr>
                  </a:outerShdw>
                </a:effectLst>
              </a:rPr>
              <a:t>Thank</a:t>
            </a:r>
          </a:p>
          <a:p>
            <a:pPr algn="ctr"/>
            <a:r>
              <a:rPr lang="en-IN" sz="9600" dirty="0" smtClean="0">
                <a:ln w="10160">
                  <a:solidFill>
                    <a:schemeClr val="accent1"/>
                  </a:solidFill>
                  <a:prstDash val="solid"/>
                </a:ln>
                <a:solidFill>
                  <a:srgbClr val="FFFFFF"/>
                </a:solidFill>
                <a:effectLst>
                  <a:outerShdw blurRad="38100" dist="32000" dir="5400000" algn="tl">
                    <a:srgbClr val="000000">
                      <a:alpha val="30000"/>
                    </a:srgbClr>
                  </a:outerShdw>
                </a:effectLst>
              </a:rPr>
              <a:t>You</a:t>
            </a:r>
            <a:endParaRPr lang="en-US" sz="960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6"/>
                                        </p:tgtEl>
                                        <p:attrNameLst>
                                          <p:attrName>style.visibility</p:attrName>
                                        </p:attrNameLst>
                                      </p:cBhvr>
                                      <p:to>
                                        <p:strVal val="visible"/>
                                      </p:to>
                                    </p:set>
                                    <p:set>
                                      <p:cBhvr>
                                        <p:cTn id="7" dur="228" fill="hold">
                                          <p:stCondLst>
                                            <p:cond delay="0"/>
                                          </p:stCondLst>
                                        </p:cTn>
                                        <p:tgtEl>
                                          <p:spTgt spid="6"/>
                                        </p:tgtEl>
                                        <p:attrNameLst>
                                          <p:attrName>style.rotation</p:attrName>
                                        </p:attrNameLst>
                                      </p:cBhvr>
                                      <p:to>
                                        <p:strVal val="-45.0"/>
                                      </p:to>
                                    </p:set>
                                    <p:anim calcmode="lin" valueType="num">
                                      <p:cBhvr>
                                        <p:cTn id="8" dur="228" fill="hold">
                                          <p:stCondLst>
                                            <p:cond delay="228"/>
                                          </p:stCondLst>
                                        </p:cTn>
                                        <p:tgtEl>
                                          <p:spTgt spid="6"/>
                                        </p:tgtEl>
                                        <p:attrNameLst>
                                          <p:attrName>style.rotation</p:attrName>
                                        </p:attrNameLst>
                                      </p:cBhvr>
                                      <p:tavLst>
                                        <p:tav tm="0">
                                          <p:val>
                                            <p:fltVal val="-45"/>
                                          </p:val>
                                        </p:tav>
                                        <p:tav tm="69900">
                                          <p:val>
                                            <p:fltVal val="45"/>
                                          </p:val>
                                        </p:tav>
                                        <p:tav tm="100000">
                                          <p:val>
                                            <p:fltVal val="0"/>
                                          </p:val>
                                        </p:tav>
                                      </p:tavLst>
                                    </p:anim>
                                    <p:anim calcmode="lin" valueType="num">
                                      <p:cBhvr>
                                        <p:cTn id="9" dur="228" fill="hold">
                                          <p:stCondLst>
                                            <p:cond delay="0"/>
                                          </p:stCondLst>
                                        </p:cTn>
                                        <p:tgtEl>
                                          <p:spTgt spid="6"/>
                                        </p:tgtEl>
                                        <p:attrNameLst>
                                          <p:attrName>ppt_y</p:attrName>
                                        </p:attrNameLst>
                                      </p:cBhvr>
                                      <p:tavLst>
                                        <p:tav tm="0">
                                          <p:val>
                                            <p:strVal val="#ppt_y-1"/>
                                          </p:val>
                                        </p:tav>
                                        <p:tav tm="100000">
                                          <p:val>
                                            <p:strVal val="#ppt_y-(0.354*#ppt_w-0.172*#ppt_h)"/>
                                          </p:val>
                                        </p:tav>
                                      </p:tavLst>
                                    </p:anim>
                                    <p:anim calcmode="lin" valueType="num">
                                      <p:cBhvr>
                                        <p:cTn id="10" dur="78" decel="50000" autoRev="1" fill="hold">
                                          <p:stCondLst>
                                            <p:cond delay="228"/>
                                          </p:stCondLst>
                                        </p:cTn>
                                        <p:tgtEl>
                                          <p:spTgt spid="6"/>
                                        </p:tgtEl>
                                        <p:attrNameLst>
                                          <p:attrName>ppt_y</p:attrName>
                                        </p:attrNameLst>
                                      </p:cBhvr>
                                      <p:tavLst>
                                        <p:tav tm="0">
                                          <p:val>
                                            <p:strVal val="#ppt_y-(0.354*#ppt_w-0.172*#ppt_h)"/>
                                          </p:val>
                                        </p:tav>
                                        <p:tav tm="100000">
                                          <p:val>
                                            <p:strVal val="#ppt_y-(0.354*#ppt_w-0.172*#ppt_h)-#ppt_h/2"/>
                                          </p:val>
                                        </p:tav>
                                      </p:tavLst>
                                    </p:anim>
                                    <p:anim calcmode="lin" valueType="num">
                                      <p:cBhvr>
                                        <p:cTn id="11" dur="68" fill="hold">
                                          <p:stCondLst>
                                            <p:cond delay="432"/>
                                          </p:stCondLst>
                                        </p:cTn>
                                        <p:tgtEl>
                                          <p:spTgt spid="6"/>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3" presetClass="emph" presetSubtype="0" fill="remove" grpId="1" nodeType="clickEffect">
                                  <p:stCondLst>
                                    <p:cond delay="0"/>
                                  </p:stCondLst>
                                  <p:iterate type="lt">
                                    <p:tmPct val="0"/>
                                  </p:iterate>
                                  <p:childTnLst>
                                    <p:animClr clrSpc="rgb">
                                      <p:cBhvr override="childStyle">
                                        <p:cTn id="15" dur="1500" accel="50000" autoRev="1" fill="hold" tmFilter="0, 0; .33333, 1; 1, 1">
                                          <p:stCondLst>
                                            <p:cond delay="0"/>
                                          </p:stCondLst>
                                        </p:cTn>
                                        <p:tgtEl>
                                          <p:spTgt spid="6"/>
                                        </p:tgtEl>
                                        <p:attrNameLst>
                                          <p:attrName>style.color</p:attrName>
                                        </p:attrNameLst>
                                      </p:cBhvr>
                                      <p:to>
                                        <a:schemeClr val="accent2"/>
                                      </p:to>
                                    </p:animClr>
                                    <p:animClr clrSpc="rgb">
                                      <p:cBhvr>
                                        <p:cTn id="16" dur="1500" accel="50000" autoRev="1" fill="hold" tmFilter="0, 0; .33333, 1; 1, 1">
                                          <p:stCondLst>
                                            <p:cond delay="0"/>
                                          </p:stCondLst>
                                        </p:cTn>
                                        <p:tgtEl>
                                          <p:spTgt spid="6"/>
                                        </p:tgtEl>
                                        <p:attrNameLst>
                                          <p:attrName>fillcolor</p:attrName>
                                        </p:attrNameLst>
                                      </p:cBhvr>
                                      <p:to>
                                        <a:schemeClr val="accent2"/>
                                      </p:to>
                                    </p:animClr>
                                    <p:set>
                                      <p:cBhvr>
                                        <p:cTn id="17" dur="3000" fill="hold"/>
                                        <p:tgtEl>
                                          <p:spTgt spid="6"/>
                                        </p:tgtEl>
                                        <p:attrNameLst>
                                          <p:attrName>fill.type</p:attrName>
                                        </p:attrNameLst>
                                      </p:cBhvr>
                                      <p:to>
                                        <p:strVal val="solid"/>
                                      </p:to>
                                    </p:set>
                                    <p:set>
                                      <p:cBhvr>
                                        <p:cTn id="18" dur="3000" fill="hold"/>
                                        <p:tgtEl>
                                          <p:spTgt spid="6"/>
                                        </p:tgtEl>
                                        <p:attrNameLst>
                                          <p:attrName>fill.on</p:attrName>
                                        </p:attrNameLst>
                                      </p:cBhvr>
                                      <p:to>
                                        <p:strVal val="true"/>
                                      </p:to>
                                    </p:set>
                                    <p:animScale>
                                      <p:cBhvr>
                                        <p:cTn id="19" dur="1500" accel="50000" autoRev="1" fill="hold" tmFilter="0, 0; .33333, 1; 1, 1">
                                          <p:stCondLst>
                                            <p:cond delay="0"/>
                                          </p:stCondLst>
                                        </p:cTn>
                                        <p:tgtEl>
                                          <p:spTgt spid="6"/>
                                        </p:tgtEl>
                                      </p:cBhvr>
                                      <p:from x="100000" y="100000"/>
                                      <p:to x="100000" y="14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254</TotalTime>
  <Words>159</Words>
  <Application>Microsoft Office PowerPoint</Application>
  <PresentationFormat>On-screen Show (4:3)</PresentationFormat>
  <Paragraphs>65</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Paper</vt:lpstr>
      <vt:lpstr>Slide 1</vt:lpstr>
      <vt:lpstr>Slide 2</vt:lpstr>
      <vt:lpstr>Slide 3</vt:lpstr>
      <vt:lpstr>Slide 4</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28</cp:revision>
  <dcterms:created xsi:type="dcterms:W3CDTF">2022-11-23T07:49:19Z</dcterms:created>
  <dcterms:modified xsi:type="dcterms:W3CDTF">2022-11-24T11:45:15Z</dcterms:modified>
</cp:coreProperties>
</file>